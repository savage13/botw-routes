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486400" cx="5486400"/>
  <p:notesSz cx="6858000" cy="9144000"/>
  <p:embeddedFontLst>
    <p:embeddedFont>
      <p:font typeface="Helvetica Neue"/>
      <p:regular r:id="rId41"/>
      <p:bold r:id="rId42"/>
      <p:italic r:id="rId43"/>
      <p:boldItalic r:id="rId44"/>
    </p:embeddedFont>
    <p:embeddedFont>
      <p:font typeface="Century Gothic"/>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728">
          <p15:clr>
            <a:srgbClr val="A4A3A4"/>
          </p15:clr>
        </p15:guide>
        <p15:guide id="2" pos="17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728" orient="horz"/>
        <p:guide pos="17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HelveticaNeue-bold.fntdata"/><Relationship Id="rId41" Type="http://schemas.openxmlformats.org/officeDocument/2006/relationships/font" Target="fonts/HelveticaNeue-regular.fntdata"/><Relationship Id="rId22" Type="http://schemas.openxmlformats.org/officeDocument/2006/relationships/slide" Target="slides/slide17.xml"/><Relationship Id="rId44" Type="http://schemas.openxmlformats.org/officeDocument/2006/relationships/font" Target="fonts/HelveticaNeue-boldItalic.fntdata"/><Relationship Id="rId21" Type="http://schemas.openxmlformats.org/officeDocument/2006/relationships/slide" Target="slides/slide16.xml"/><Relationship Id="rId43" Type="http://schemas.openxmlformats.org/officeDocument/2006/relationships/font" Target="fonts/HelveticaNeue-italic.fntdata"/><Relationship Id="rId24" Type="http://schemas.openxmlformats.org/officeDocument/2006/relationships/slide" Target="slides/slide19.xml"/><Relationship Id="rId46" Type="http://schemas.openxmlformats.org/officeDocument/2006/relationships/font" Target="fonts/CenturyGothic-bold.fntdata"/><Relationship Id="rId23" Type="http://schemas.openxmlformats.org/officeDocument/2006/relationships/slide" Target="slides/slide18.xml"/><Relationship Id="rId45" Type="http://schemas.openxmlformats.org/officeDocument/2006/relationships/font" Target="fonts/CenturyGothic-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CenturyGothic-boldItalic.fntdata"/><Relationship Id="rId25" Type="http://schemas.openxmlformats.org/officeDocument/2006/relationships/slide" Target="slides/slide20.xml"/><Relationship Id="rId47" Type="http://schemas.openxmlformats.org/officeDocument/2006/relationships/font" Target="fonts/CenturyGothic-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6e1e90efa7_0_22: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6e1e90efa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7a658c7861_0_191: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7a658c786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6e1e90efa7_0_7: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6e1e90efa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Pot Lid must have 5 or more durability at the end of Plateau. Can land on shield for (1) Temple of Time clip, (2) clear skew after Bombs, (3) Magnesis clip, (4) clear skew after Stasis, (5) Cryonis clip.</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7a658c7861_0_114: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7a658c7861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7a658c7861_0_119: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7a658c7861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7a658c7861_0_138: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7a658c7861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6e1e90efa7_0_0:notes"/>
          <p:cNvSpPr/>
          <p:nvPr>
            <p:ph idx="2" type="sldImg"/>
          </p:nvPr>
        </p:nvSpPr>
        <p:spPr>
          <a:xfrm>
            <a:off x="1714803"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6e1e90ef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7a095a7316_0_0:notes"/>
          <p:cNvSpPr/>
          <p:nvPr>
            <p:ph idx="2" type="sldImg"/>
          </p:nvPr>
        </p:nvSpPr>
        <p:spPr>
          <a:xfrm>
            <a:off x="1714803"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7a095a73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6e1e90efa7_0_27: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6e1e90efa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6e1e90efa7_0_32: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6e1e90efa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replace Spicy Pepper with Hylian Shroom or Apple but then the WMC meal won't have a status effect and will require additional menuing later.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6e1e90efa7_0_214: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6e1e90efa7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*Technically, we only need to sync GameData in step 4, but I find clearing out the Seared Steak makes menuing nicer.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6e1e90efa7_0_219: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6e1e90efa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6e1e90efa7_0_225: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6e1e90efa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7a095a7316_0_5: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7a095a731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7a658c7861_0_209: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7a658c7861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6e72fac77f_0_0: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6e72fac7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7a658c7861_0_203: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7a658c7861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7a658c7861_0_197: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7a658c786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7a658c7861_0_213: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7a658c7861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7a658c7861_0_36: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7a658c78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7a658c7861_0_18: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7a658c786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7a658c7861_0_29: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7a658c786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7a658c7861_0_13: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7a658c786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7a658c7861_0_50: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7a658c786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7a658c7861_0_56: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7a658c786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7a658c7861_0_62: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7a658c786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7a658c7861_0_73: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7a658c786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7a658c7861_0_90: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7a658c786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7a658c7861_0_126: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7a658c7861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7a658c7861_0_167: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7a658c7861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7a658c7861_0_132: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7a658c7861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7a658c7861_0_143: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7a658c786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7a658c7861_0_149: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7a658c786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7a658c7861_0_155: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7a658c786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7a658c7861_0_161:notes"/>
          <p:cNvSpPr/>
          <p:nvPr>
            <p:ph idx="2" type="sldImg"/>
          </p:nvPr>
        </p:nvSpPr>
        <p:spPr>
          <a:xfrm>
            <a:off x="1714828"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7a658c7861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87025" y="794213"/>
            <a:ext cx="5112300" cy="21897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87020" y="3023067"/>
            <a:ext cx="5112300" cy="845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87020" y="2294240"/>
            <a:ext cx="5112300" cy="89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187020" y="1229307"/>
            <a:ext cx="2399700" cy="3644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2899440" y="1229307"/>
            <a:ext cx="2399700" cy="3644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87020" y="592640"/>
            <a:ext cx="1684800" cy="8061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187020" y="1482240"/>
            <a:ext cx="1684800" cy="3391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94150" y="480160"/>
            <a:ext cx="3820500" cy="43635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743200" y="-133"/>
            <a:ext cx="2743200" cy="548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59300" y="1315387"/>
            <a:ext cx="2427000" cy="1581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59300" y="2989947"/>
            <a:ext cx="2427000" cy="1317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2963700" y="772347"/>
            <a:ext cx="2302200" cy="39414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87020" y="4512613"/>
            <a:ext cx="3599400" cy="6453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87020" y="1179867"/>
            <a:ext cx="5112300" cy="2094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187020" y="3362373"/>
            <a:ext cx="5112300" cy="13875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5083475" y="4974098"/>
            <a:ext cx="329400" cy="41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64CD"/>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87020" y="474693"/>
            <a:ext cx="5112300" cy="611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87020" y="1229307"/>
            <a:ext cx="5112300" cy="36441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5083475" y="4974098"/>
            <a:ext cx="329400" cy="419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youtu.be/Y6o_L65DLeM" TargetMode="External"/><Relationship Id="rId4" Type="http://schemas.openxmlformats.org/officeDocument/2006/relationships/hyperlink" Target="http://bombch.us/DXyU"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slide" Target="/ppt/slides/slide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drive.google.com/file/d/1bHPWACrUYBnNkrYOfkk6PuQETCvZ8ToI/view?usp=share_link" TargetMode="External"/><Relationship Id="rId4" Type="http://schemas.openxmlformats.org/officeDocument/2006/relationships/hyperlink" Target="https://youtu.be/RDN8bS7dMWQ" TargetMode="External"/><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youtu.be/iG_sGHdzjlU" TargetMode="External"/><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87025" y="794213"/>
            <a:ext cx="5112300" cy="2189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5000">
                <a:solidFill>
                  <a:schemeClr val="lt1"/>
                </a:solidFill>
                <a:latin typeface="Century Gothic"/>
                <a:ea typeface="Century Gothic"/>
                <a:cs typeface="Century Gothic"/>
                <a:sym typeface="Century Gothic"/>
              </a:rPr>
              <a:t>All Kilton Medals</a:t>
            </a:r>
            <a:endParaRPr b="1" sz="5000">
              <a:solidFill>
                <a:schemeClr val="lt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187020" y="2294240"/>
            <a:ext cx="5112300" cy="897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solidFill>
                  <a:schemeClr val="lt1"/>
                </a:solidFill>
                <a:latin typeface="Century Gothic"/>
                <a:ea typeface="Century Gothic"/>
                <a:cs typeface="Century Gothic"/>
                <a:sym typeface="Century Gothic"/>
              </a:rPr>
              <a:t>Early Game</a:t>
            </a:r>
            <a:endParaRPr sz="22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Bombs</a:t>
            </a:r>
            <a:endParaRPr b="1">
              <a:solidFill>
                <a:schemeClr val="lt1"/>
              </a:solidFill>
              <a:latin typeface="Century Gothic"/>
              <a:ea typeface="Century Gothic"/>
              <a:cs typeface="Century Gothic"/>
              <a:sym typeface="Century Gothic"/>
            </a:endParaRPr>
          </a:p>
        </p:txBody>
      </p:sp>
      <p:sp>
        <p:nvSpPr>
          <p:cNvPr id="65" name="Google Shape;65;p15"/>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Clip out of Shrine of Resurrection</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Activate time of day</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1 Hylian Shroom, 1 Tree Branch</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2 Apples, Axe by Old Man</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At boko camp, get</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4 Hylian Shroom</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6 Spicy Pepper</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1 Seared Steak</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1 Pot Lid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RUN to Temple of Time, DO NOT surf</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Complete rest of split same as Any%</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Plateau</a:t>
            </a:r>
            <a:endParaRPr b="1">
              <a:solidFill>
                <a:schemeClr val="lt1"/>
              </a:solidFill>
              <a:latin typeface="Century Gothic"/>
              <a:ea typeface="Century Gothic"/>
              <a:cs typeface="Century Gothic"/>
              <a:sym typeface="Century Gothic"/>
            </a:endParaRPr>
          </a:p>
        </p:txBody>
      </p:sp>
      <p:sp>
        <p:nvSpPr>
          <p:cNvPr id="71" name="Google Shape;71;p16"/>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Complete Magnesis and Stasis same as Any%</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BLSS to Cryonis, get DLC Chest with 5 Bomb Arrow</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Complete rest of Cryonis + Paraglider same as Any%</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Helvetica Neue"/>
                <a:ea typeface="Helvetica Neue"/>
                <a:cs typeface="Helvetica Neue"/>
                <a:sym typeface="Helvetica Neue"/>
              </a:rPr>
              <a:t>Kakariko</a:t>
            </a:r>
            <a:endParaRPr b="1">
              <a:solidFill>
                <a:schemeClr val="lt1"/>
              </a:solidFill>
              <a:latin typeface="Helvetica Neue"/>
              <a:ea typeface="Helvetica Neue"/>
              <a:cs typeface="Helvetica Neue"/>
              <a:sym typeface="Helvetica Neue"/>
            </a:endParaRPr>
          </a:p>
        </p:txBody>
      </p:sp>
      <p:sp>
        <p:nvSpPr>
          <p:cNvPr id="77" name="Google Shape;77;p17"/>
          <p:cNvSpPr txBox="1"/>
          <p:nvPr>
            <p:ph idx="1" type="body"/>
          </p:nvPr>
        </p:nvSpPr>
        <p:spPr>
          <a:xfrm>
            <a:off x="187020" y="1229307"/>
            <a:ext cx="5112300" cy="3644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BLSS to Kakariko</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WB to Phrenic Bow, get Blue Nightshade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WB to Fairy Fountain (eat 1 Hylian Shroom if needed)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Get</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3 Fairy</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2+ Blue Nightshade</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3 Endura Carrot</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3 Silent Princess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WB to Kakariko (use 1 Fairy)</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Get 1+ Apple from offering korok</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Turn in 4 Spirit Orbs for 1 stamina upgrade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187020" y="2294240"/>
            <a:ext cx="5112300" cy="897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solidFill>
                  <a:schemeClr val="lt1"/>
                </a:solidFill>
                <a:latin typeface="Century Gothic"/>
                <a:ea typeface="Century Gothic"/>
                <a:cs typeface="Century Gothic"/>
                <a:sym typeface="Century Gothic"/>
              </a:rPr>
              <a:t>WMC</a:t>
            </a:r>
            <a:endParaRPr b="1">
              <a:solidFill>
                <a:schemeClr val="lt1"/>
              </a:solidFill>
              <a:latin typeface="Century Gothic"/>
              <a:ea typeface="Century Gothic"/>
              <a:cs typeface="Century Gothic"/>
              <a:sym typeface="Century Gothic"/>
            </a:endParaRPr>
          </a:p>
          <a:p>
            <a:pPr indent="0" lvl="0" marL="0" rtl="0" algn="ctr">
              <a:spcBef>
                <a:spcPts val="0"/>
              </a:spcBef>
              <a:spcAft>
                <a:spcPts val="0"/>
              </a:spcAft>
              <a:buNone/>
            </a:pPr>
            <a:r>
              <a:rPr lang="en" sz="2200" u="sng">
                <a:solidFill>
                  <a:schemeClr val="hlink"/>
                </a:solidFill>
                <a:hlinkClick r:id="rId3"/>
              </a:rPr>
              <a:t>Walkthrough Video</a:t>
            </a:r>
            <a:endParaRPr sz="2200">
              <a:solidFill>
                <a:schemeClr val="lt1"/>
              </a:solidFill>
            </a:endParaRPr>
          </a:p>
          <a:p>
            <a:pPr indent="0" lvl="0" marL="0" rtl="0" algn="ctr">
              <a:spcBef>
                <a:spcPts val="0"/>
              </a:spcBef>
              <a:spcAft>
                <a:spcPts val="0"/>
              </a:spcAft>
              <a:buNone/>
            </a:pPr>
            <a:r>
              <a:rPr lang="en" sz="2200" u="sng">
                <a:solidFill>
                  <a:schemeClr val="hlink"/>
                </a:solidFill>
                <a:hlinkClick r:id="rId4"/>
              </a:rPr>
              <a:t>IST Sim</a:t>
            </a:r>
            <a:endParaRPr sz="22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WMC1</a:t>
            </a:r>
            <a:r>
              <a:rPr b="1" lang="en">
                <a:solidFill>
                  <a:schemeClr val="lt1"/>
                </a:solidFill>
                <a:latin typeface="Century Gothic"/>
                <a:ea typeface="Century Gothic"/>
                <a:cs typeface="Century Gothic"/>
                <a:sym typeface="Century Gothic"/>
              </a:rPr>
              <a:t>. Break 8 Slots</a:t>
            </a:r>
            <a:endParaRPr b="1">
              <a:solidFill>
                <a:schemeClr val="lt1"/>
              </a:solidFill>
              <a:latin typeface="Century Gothic"/>
              <a:ea typeface="Century Gothic"/>
              <a:cs typeface="Century Gothic"/>
              <a:sym typeface="Century Gothic"/>
            </a:endParaRPr>
          </a:p>
        </p:txBody>
      </p:sp>
      <p:sp>
        <p:nvSpPr>
          <p:cNvPr id="88" name="Google Shape;88;p19"/>
          <p:cNvSpPr txBox="1"/>
          <p:nvPr>
            <p:ph idx="1" type="body"/>
          </p:nvPr>
        </p:nvSpPr>
        <p:spPr>
          <a:xfrm>
            <a:off x="187020" y="1229307"/>
            <a:ext cx="5112300" cy="3644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Clothes shop:</a:t>
            </a:r>
            <a:endParaRPr>
              <a:solidFill>
                <a:schemeClr val="lt2"/>
              </a:solidFill>
              <a:latin typeface="Helvetica Neue"/>
              <a:ea typeface="Helvetica Neue"/>
              <a:cs typeface="Helvetica Neue"/>
              <a:sym typeface="Helvetica Neue"/>
            </a:endParaRPr>
          </a:p>
          <a:p>
            <a:pPr indent="-342900" lvl="0" marL="457200" rtl="0" algn="l">
              <a:spcBef>
                <a:spcPts val="120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Drop 1 each of Hylian Shroom, Apple, Nightshade, Princess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(Optional) Drop 1 Fairy and use remaining one as check item</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Break 4 slots + sell Peppers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Pick everything back up</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Break 4 slots again</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Pickup 3 items (can be anything)</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Buy Hylian Hood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 (do NOT save first)</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WMC2</a:t>
            </a:r>
            <a:r>
              <a:rPr b="1" lang="en">
                <a:solidFill>
                  <a:schemeClr val="lt1"/>
                </a:solidFill>
                <a:latin typeface="Century Gothic"/>
                <a:ea typeface="Century Gothic"/>
                <a:cs typeface="Century Gothic"/>
                <a:sym typeface="Century Gothic"/>
              </a:rPr>
              <a:t>. Cooking</a:t>
            </a:r>
            <a:endParaRPr b="1">
              <a:solidFill>
                <a:schemeClr val="lt1"/>
              </a:solidFill>
              <a:latin typeface="Century Gothic"/>
              <a:ea typeface="Century Gothic"/>
              <a:cs typeface="Century Gothic"/>
              <a:sym typeface="Century Gothic"/>
            </a:endParaRPr>
          </a:p>
        </p:txBody>
      </p:sp>
      <p:sp>
        <p:nvSpPr>
          <p:cNvPr id="94" name="Google Shape;94;p20"/>
          <p:cNvSpPr txBox="1"/>
          <p:nvPr>
            <p:ph idx="1" type="body"/>
          </p:nvPr>
        </p:nvSpPr>
        <p:spPr>
          <a:xfrm>
            <a:off x="187020" y="1229307"/>
            <a:ext cx="5112300" cy="36441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lt2"/>
              </a:buClr>
              <a:buSzPts val="1800"/>
              <a:buFont typeface="Helvetica Neue"/>
              <a:buAutoNum type="arabicPeriod"/>
            </a:pPr>
            <a:r>
              <a:rPr lang="en" u="sng">
                <a:solidFill>
                  <a:schemeClr val="hlink"/>
                </a:solidFill>
                <a:latin typeface="Helvetica Neue"/>
                <a:ea typeface="Helvetica Neue"/>
                <a:cs typeface="Helvetica Neue"/>
                <a:sym typeface="Helvetica Neue"/>
                <a:hlinkClick action="ppaction://hlinksldjump" r:id="rId3"/>
              </a:rPr>
              <a:t>Get Invalid Star Tab</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Roast Endura Carrot</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Shoot all Normal Arrow</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Equip Phrenic Bow and Bomb Arrow</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1 Seared Steak</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Cook 5 Wild Greens, 5 Sauteed Pepper</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Break 4 slots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Pick everything back up (edible material in row 2, column 1)</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Equip Axe and Pot Lid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WMC3</a:t>
            </a:r>
            <a:r>
              <a:rPr b="1" lang="en">
                <a:solidFill>
                  <a:schemeClr val="lt1"/>
                </a:solidFill>
                <a:latin typeface="Century Gothic"/>
                <a:ea typeface="Century Gothic"/>
                <a:cs typeface="Century Gothic"/>
                <a:sym typeface="Century Gothic"/>
              </a:rPr>
              <a:t>. Dupe Food</a:t>
            </a:r>
            <a:endParaRPr b="1">
              <a:solidFill>
                <a:schemeClr val="lt1"/>
              </a:solidFill>
              <a:latin typeface="Century Gothic"/>
              <a:ea typeface="Century Gothic"/>
              <a:cs typeface="Century Gothic"/>
              <a:sym typeface="Century Gothic"/>
            </a:endParaRPr>
          </a:p>
        </p:txBody>
      </p:sp>
      <p:sp>
        <p:nvSpPr>
          <p:cNvPr id="100" name="Google Shape;100;p21"/>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Open/close quick menu</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Open/close quick menu</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2"/>
          <p:cNvSpPr txBox="1"/>
          <p:nvPr>
            <p:ph type="title"/>
          </p:nvPr>
        </p:nvSpPr>
        <p:spPr>
          <a:xfrm>
            <a:off x="187020" y="474693"/>
            <a:ext cx="5112300" cy="61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WMC4</a:t>
            </a:r>
            <a:r>
              <a:rPr b="1" lang="en">
                <a:solidFill>
                  <a:schemeClr val="lt1"/>
                </a:solidFill>
                <a:latin typeface="Century Gothic"/>
                <a:ea typeface="Century Gothic"/>
                <a:cs typeface="Century Gothic"/>
                <a:sym typeface="Century Gothic"/>
              </a:rPr>
              <a:t>. Prompt Entanglement</a:t>
            </a:r>
            <a:endParaRPr b="1">
              <a:solidFill>
                <a:schemeClr val="lt1"/>
              </a:solidFill>
              <a:latin typeface="Century Gothic"/>
              <a:ea typeface="Century Gothic"/>
              <a:cs typeface="Century Gothic"/>
              <a:sym typeface="Century Gothic"/>
            </a:endParaRPr>
          </a:p>
        </p:txBody>
      </p:sp>
      <p:sp>
        <p:nvSpPr>
          <p:cNvPr id="106" name="Google Shape;106;p22"/>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Sort Food tab</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Normal Arrow (</a:t>
            </a:r>
            <a:r>
              <a:rPr lang="en">
                <a:solidFill>
                  <a:schemeClr val="lt2"/>
                </a:solidFill>
                <a:latin typeface="Helvetica Neue"/>
                <a:ea typeface="Helvetica Neue"/>
                <a:cs typeface="Helvetica Neue"/>
                <a:sym typeface="Helvetica Neue"/>
              </a:rPr>
              <a:t>Food 1 Row </a:t>
            </a:r>
            <a:r>
              <a:rPr lang="en">
                <a:solidFill>
                  <a:schemeClr val="lt2"/>
                </a:solidFill>
                <a:latin typeface="Helvetica Neue"/>
                <a:ea typeface="Helvetica Neue"/>
                <a:cs typeface="Helvetica Neue"/>
                <a:sym typeface="Helvetica Neue"/>
              </a:rPr>
              <a:t>3 Col 5)</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Hylian Hood (Food 3 Row 2 Col 5)</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Cook WMC meal </a:t>
            </a:r>
            <a:r>
              <a:rPr lang="en">
                <a:solidFill>
                  <a:schemeClr val="lt2"/>
                </a:solidFill>
                <a:latin typeface="Helvetica Neue"/>
                <a:ea typeface="Helvetica Neue"/>
                <a:cs typeface="Helvetica Neue"/>
                <a:sym typeface="Helvetica Neue"/>
              </a:rPr>
              <a:t>(Food 1 Row 2 Col 5)</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Char char="○"/>
            </a:pPr>
            <a:r>
              <a:rPr lang="en">
                <a:solidFill>
                  <a:schemeClr val="lt2"/>
                </a:solidFill>
                <a:latin typeface="Helvetica Neue"/>
                <a:ea typeface="Helvetica Neue"/>
                <a:cs typeface="Helvetica Neue"/>
                <a:sym typeface="Helvetica Neue"/>
              </a:rPr>
              <a:t>3 Roasted Endura Carrot</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Char char="○"/>
            </a:pPr>
            <a:r>
              <a:rPr lang="en">
                <a:solidFill>
                  <a:schemeClr val="lt2"/>
                </a:solidFill>
                <a:latin typeface="Helvetica Neue"/>
                <a:ea typeface="Helvetica Neue"/>
                <a:cs typeface="Helvetica Neue"/>
                <a:sym typeface="Helvetica Neue"/>
              </a:rPr>
              <a:t>1 Fairy</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Char char="○"/>
            </a:pPr>
            <a:r>
              <a:rPr lang="en">
                <a:solidFill>
                  <a:schemeClr val="lt2"/>
                </a:solidFill>
                <a:latin typeface="Helvetica Neue"/>
                <a:ea typeface="Helvetica Neue"/>
                <a:cs typeface="Helvetica Neue"/>
                <a:sym typeface="Helvetica Neue"/>
              </a:rPr>
              <a:t>1 Spicy Pepper</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p:txBody>
      </p:sp>
      <p:grpSp>
        <p:nvGrpSpPr>
          <p:cNvPr id="107" name="Google Shape;107;p22"/>
          <p:cNvGrpSpPr/>
          <p:nvPr/>
        </p:nvGrpSpPr>
        <p:grpSpPr>
          <a:xfrm>
            <a:off x="2556125" y="4035188"/>
            <a:ext cx="2743200" cy="685800"/>
            <a:chOff x="693750" y="2296700"/>
            <a:chExt cx="914400" cy="228600"/>
          </a:xfrm>
        </p:grpSpPr>
        <p:pic>
          <p:nvPicPr>
            <p:cNvPr id="108" name="Google Shape;108;p22"/>
            <p:cNvPicPr preferRelativeResize="0"/>
            <p:nvPr/>
          </p:nvPicPr>
          <p:blipFill>
            <a:blip r:embed="rId3">
              <a:alphaModFix/>
            </a:blip>
            <a:stretch>
              <a:fillRect/>
            </a:stretch>
          </p:blipFill>
          <p:spPr>
            <a:xfrm>
              <a:off x="693750" y="2296700"/>
              <a:ext cx="228600" cy="228600"/>
            </a:xfrm>
            <a:prstGeom prst="rect">
              <a:avLst/>
            </a:prstGeom>
            <a:noFill/>
            <a:ln>
              <a:noFill/>
            </a:ln>
          </p:spPr>
        </p:pic>
        <p:pic>
          <p:nvPicPr>
            <p:cNvPr id="109" name="Google Shape;109;p22"/>
            <p:cNvPicPr preferRelativeResize="0"/>
            <p:nvPr/>
          </p:nvPicPr>
          <p:blipFill>
            <a:blip r:embed="rId4">
              <a:alphaModFix/>
            </a:blip>
            <a:stretch>
              <a:fillRect/>
            </a:stretch>
          </p:blipFill>
          <p:spPr>
            <a:xfrm>
              <a:off x="922350" y="2296700"/>
              <a:ext cx="228600" cy="228600"/>
            </a:xfrm>
            <a:prstGeom prst="rect">
              <a:avLst/>
            </a:prstGeom>
            <a:noFill/>
            <a:ln>
              <a:noFill/>
            </a:ln>
          </p:spPr>
        </p:pic>
        <p:pic>
          <p:nvPicPr>
            <p:cNvPr id="110" name="Google Shape;110;p22"/>
            <p:cNvPicPr preferRelativeResize="0"/>
            <p:nvPr/>
          </p:nvPicPr>
          <p:blipFill>
            <a:blip r:embed="rId5">
              <a:alphaModFix/>
            </a:blip>
            <a:stretch>
              <a:fillRect/>
            </a:stretch>
          </p:blipFill>
          <p:spPr>
            <a:xfrm>
              <a:off x="1150950" y="2296700"/>
              <a:ext cx="228600" cy="228600"/>
            </a:xfrm>
            <a:prstGeom prst="rect">
              <a:avLst/>
            </a:prstGeom>
            <a:noFill/>
            <a:ln>
              <a:noFill/>
            </a:ln>
          </p:spPr>
        </p:pic>
        <p:pic>
          <p:nvPicPr>
            <p:cNvPr id="111" name="Google Shape;111;p22"/>
            <p:cNvPicPr preferRelativeResize="0"/>
            <p:nvPr/>
          </p:nvPicPr>
          <p:blipFill>
            <a:blip r:embed="rId6">
              <a:alphaModFix/>
            </a:blip>
            <a:stretch>
              <a:fillRect/>
            </a:stretch>
          </p:blipFill>
          <p:spPr>
            <a:xfrm>
              <a:off x="1379550" y="2296700"/>
              <a:ext cx="228600" cy="228600"/>
            </a:xfrm>
            <a:prstGeom prst="rect">
              <a:avLst/>
            </a:prstGeom>
            <a:noFill/>
            <a:ln>
              <a:noFill/>
            </a:ln>
          </p:spPr>
        </p:pic>
      </p:grpSp>
      <p:grpSp>
        <p:nvGrpSpPr>
          <p:cNvPr id="112" name="Google Shape;112;p22"/>
          <p:cNvGrpSpPr/>
          <p:nvPr/>
        </p:nvGrpSpPr>
        <p:grpSpPr>
          <a:xfrm>
            <a:off x="2556125" y="4720988"/>
            <a:ext cx="2743200" cy="685800"/>
            <a:chOff x="616975" y="2962450"/>
            <a:chExt cx="3657600" cy="914400"/>
          </a:xfrm>
        </p:grpSpPr>
        <p:pic>
          <p:nvPicPr>
            <p:cNvPr id="113" name="Google Shape;113;p22"/>
            <p:cNvPicPr preferRelativeResize="0"/>
            <p:nvPr/>
          </p:nvPicPr>
          <p:blipFill>
            <a:blip r:embed="rId7">
              <a:alphaModFix/>
            </a:blip>
            <a:stretch>
              <a:fillRect/>
            </a:stretch>
          </p:blipFill>
          <p:spPr>
            <a:xfrm>
              <a:off x="616975" y="2962450"/>
              <a:ext cx="914400" cy="914400"/>
            </a:xfrm>
            <a:prstGeom prst="rect">
              <a:avLst/>
            </a:prstGeom>
            <a:noFill/>
            <a:ln>
              <a:noFill/>
            </a:ln>
          </p:spPr>
        </p:pic>
        <p:pic>
          <p:nvPicPr>
            <p:cNvPr id="114" name="Google Shape;114;p22"/>
            <p:cNvPicPr preferRelativeResize="0"/>
            <p:nvPr/>
          </p:nvPicPr>
          <p:blipFill>
            <a:blip r:embed="rId6">
              <a:alphaModFix/>
            </a:blip>
            <a:stretch>
              <a:fillRect/>
            </a:stretch>
          </p:blipFill>
          <p:spPr>
            <a:xfrm>
              <a:off x="1531375" y="2962450"/>
              <a:ext cx="914400" cy="914400"/>
            </a:xfrm>
            <a:prstGeom prst="rect">
              <a:avLst/>
            </a:prstGeom>
            <a:noFill/>
            <a:ln>
              <a:noFill/>
            </a:ln>
          </p:spPr>
        </p:pic>
        <p:pic>
          <p:nvPicPr>
            <p:cNvPr id="115" name="Google Shape;115;p22"/>
            <p:cNvPicPr preferRelativeResize="0"/>
            <p:nvPr/>
          </p:nvPicPr>
          <p:blipFill>
            <a:blip r:embed="rId6">
              <a:alphaModFix/>
            </a:blip>
            <a:stretch>
              <a:fillRect/>
            </a:stretch>
          </p:blipFill>
          <p:spPr>
            <a:xfrm>
              <a:off x="2445775" y="2962450"/>
              <a:ext cx="914400" cy="914400"/>
            </a:xfrm>
            <a:prstGeom prst="rect">
              <a:avLst/>
            </a:prstGeom>
            <a:noFill/>
            <a:ln>
              <a:noFill/>
            </a:ln>
          </p:spPr>
        </p:pic>
        <p:pic>
          <p:nvPicPr>
            <p:cNvPr id="116" name="Google Shape;116;p22"/>
            <p:cNvPicPr preferRelativeResize="0"/>
            <p:nvPr/>
          </p:nvPicPr>
          <p:blipFill>
            <a:blip r:embed="rId7">
              <a:alphaModFix/>
            </a:blip>
            <a:stretch>
              <a:fillRect/>
            </a:stretch>
          </p:blipFill>
          <p:spPr>
            <a:xfrm>
              <a:off x="3360175" y="2962450"/>
              <a:ext cx="914400" cy="914400"/>
            </a:xfrm>
            <a:prstGeom prst="rect">
              <a:avLst/>
            </a:prstGeom>
            <a:noFill/>
            <a:ln>
              <a:noFill/>
            </a:ln>
          </p:spPr>
        </p:pic>
      </p:grpSp>
      <p:sp>
        <p:nvSpPr>
          <p:cNvPr id="117" name="Google Shape;117;p22"/>
          <p:cNvSpPr txBox="1"/>
          <p:nvPr>
            <p:ph idx="1" type="body"/>
          </p:nvPr>
        </p:nvSpPr>
        <p:spPr>
          <a:xfrm>
            <a:off x="187025" y="4035200"/>
            <a:ext cx="2369100" cy="685800"/>
          </a:xfrm>
          <a:prstGeom prst="rect">
            <a:avLst/>
          </a:prstGeom>
        </p:spPr>
        <p:txBody>
          <a:bodyPr anchorCtr="0" anchor="ctr" bIns="91425" lIns="91425" spcFirstLastPara="1" rIns="91425" wrap="square" tIns="91425">
            <a:normAutofit/>
          </a:bodyPr>
          <a:lstStyle/>
          <a:p>
            <a:pPr indent="0" lvl="0" marL="0" rtl="0" algn="r">
              <a:spcBef>
                <a:spcPts val="0"/>
              </a:spcBef>
              <a:spcAft>
                <a:spcPts val="1200"/>
              </a:spcAft>
              <a:buNone/>
            </a:pPr>
            <a:r>
              <a:rPr i="1" lang="en">
                <a:solidFill>
                  <a:schemeClr val="lt2"/>
                </a:solidFill>
                <a:latin typeface="Helvetica Neue"/>
                <a:ea typeface="Helvetica Neue"/>
                <a:cs typeface="Helvetica Neue"/>
                <a:sym typeface="Helvetica Neue"/>
              </a:rPr>
              <a:t>Activate Row:</a:t>
            </a:r>
            <a:endParaRPr i="1">
              <a:solidFill>
                <a:schemeClr val="lt2"/>
              </a:solidFill>
              <a:latin typeface="Helvetica Neue"/>
              <a:ea typeface="Helvetica Neue"/>
              <a:cs typeface="Helvetica Neue"/>
              <a:sym typeface="Helvetica Neue"/>
            </a:endParaRPr>
          </a:p>
        </p:txBody>
      </p:sp>
      <p:sp>
        <p:nvSpPr>
          <p:cNvPr id="118" name="Google Shape;118;p22"/>
          <p:cNvSpPr txBox="1"/>
          <p:nvPr>
            <p:ph idx="1" type="body"/>
          </p:nvPr>
        </p:nvSpPr>
        <p:spPr>
          <a:xfrm>
            <a:off x="187025" y="4721000"/>
            <a:ext cx="2369100" cy="685800"/>
          </a:xfrm>
          <a:prstGeom prst="rect">
            <a:avLst/>
          </a:prstGeom>
        </p:spPr>
        <p:txBody>
          <a:bodyPr anchorCtr="0" anchor="ctr" bIns="91425" lIns="91425" spcFirstLastPara="1" rIns="91425" wrap="square" tIns="91425">
            <a:normAutofit/>
          </a:bodyPr>
          <a:lstStyle/>
          <a:p>
            <a:pPr indent="0" lvl="0" marL="0" rtl="0" algn="r">
              <a:spcBef>
                <a:spcPts val="0"/>
              </a:spcBef>
              <a:spcAft>
                <a:spcPts val="1200"/>
              </a:spcAft>
              <a:buNone/>
            </a:pPr>
            <a:r>
              <a:rPr i="1" lang="en">
                <a:solidFill>
                  <a:schemeClr val="lt2"/>
                </a:solidFill>
                <a:latin typeface="Helvetica Neue"/>
                <a:ea typeface="Helvetica Neue"/>
                <a:cs typeface="Helvetica Neue"/>
                <a:sym typeface="Helvetica Neue"/>
              </a:rPr>
              <a:t>Activate Col 1:</a:t>
            </a:r>
            <a:endParaRPr i="1">
              <a:solidFill>
                <a:schemeClr val="lt2"/>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WMC5</a:t>
            </a:r>
            <a:r>
              <a:rPr b="1" lang="en">
                <a:solidFill>
                  <a:schemeClr val="lt1"/>
                </a:solidFill>
                <a:latin typeface="Century Gothic"/>
                <a:ea typeface="Century Gothic"/>
                <a:cs typeface="Century Gothic"/>
                <a:sym typeface="Century Gothic"/>
              </a:rPr>
              <a:t>. Transfer CookData</a:t>
            </a:r>
            <a:endParaRPr b="1">
              <a:solidFill>
                <a:schemeClr val="lt1"/>
              </a:solidFill>
              <a:latin typeface="Century Gothic"/>
              <a:ea typeface="Century Gothic"/>
              <a:cs typeface="Century Gothic"/>
              <a:sym typeface="Century Gothic"/>
            </a:endParaRPr>
          </a:p>
        </p:txBody>
      </p:sp>
      <p:sp>
        <p:nvSpPr>
          <p:cNvPr id="124" name="Google Shape;124;p23"/>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1 Meal</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1 Seared Steak*</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WMC6</a:t>
            </a:r>
            <a:r>
              <a:rPr b="1" lang="en">
                <a:solidFill>
                  <a:schemeClr val="lt1"/>
                </a:solidFill>
                <a:latin typeface="Century Gothic"/>
                <a:ea typeface="Century Gothic"/>
                <a:cs typeface="Century Gothic"/>
                <a:sym typeface="Century Gothic"/>
              </a:rPr>
              <a:t>. Corruption</a:t>
            </a:r>
            <a:endParaRPr b="1">
              <a:solidFill>
                <a:schemeClr val="lt1"/>
              </a:solidFill>
              <a:latin typeface="Century Gothic"/>
              <a:ea typeface="Century Gothic"/>
              <a:cs typeface="Century Gothic"/>
              <a:sym typeface="Century Gothic"/>
            </a:endParaRPr>
          </a:p>
        </p:txBody>
      </p:sp>
      <p:sp>
        <p:nvSpPr>
          <p:cNvPr id="130" name="Google Shape;130;p24"/>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all Food except 2 Sauteed Pepper, 1 Seared Steak, 6 Wild Greens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Drop Traveler's Bow</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Drop all Materials except 1 Fairy</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1 Fairy, 2 Sauteed Pepper, 1 Seared Steak</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Drop and pickup all other equipment</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Unequip all</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WMC7</a:t>
            </a:r>
            <a:r>
              <a:rPr b="1" lang="en">
                <a:solidFill>
                  <a:schemeClr val="lt1"/>
                </a:solidFill>
                <a:latin typeface="Century Gothic"/>
                <a:ea typeface="Century Gothic"/>
                <a:cs typeface="Century Gothic"/>
                <a:sym typeface="Century Gothic"/>
              </a:rPr>
              <a:t>. Omegabow</a:t>
            </a:r>
            <a:endParaRPr b="1">
              <a:solidFill>
                <a:schemeClr val="lt1"/>
              </a:solidFill>
              <a:latin typeface="Century Gothic"/>
              <a:ea typeface="Century Gothic"/>
              <a:cs typeface="Century Gothic"/>
              <a:sym typeface="Century Gothic"/>
            </a:endParaRPr>
          </a:p>
        </p:txBody>
      </p:sp>
      <p:sp>
        <p:nvSpPr>
          <p:cNvPr id="136" name="Google Shape;136;p25"/>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1 Seared Steak</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12 meals in front of Seared Steak</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Drop Pot Lid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Unequip Phrenic Bow, Axe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2 Wild Greens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WMC8</a:t>
            </a:r>
            <a:r>
              <a:rPr b="1" lang="en">
                <a:solidFill>
                  <a:schemeClr val="lt1"/>
                </a:solidFill>
                <a:latin typeface="Century Gothic"/>
                <a:ea typeface="Century Gothic"/>
                <a:cs typeface="Century Gothic"/>
                <a:sym typeface="Century Gothic"/>
              </a:rPr>
              <a:t>. Stamina + Bow #2</a:t>
            </a:r>
            <a:endParaRPr b="1">
              <a:solidFill>
                <a:schemeClr val="lt1"/>
              </a:solidFill>
              <a:latin typeface="Century Gothic"/>
              <a:ea typeface="Century Gothic"/>
              <a:cs typeface="Century Gothic"/>
              <a:sym typeface="Century Gothic"/>
            </a:endParaRPr>
          </a:p>
        </p:txBody>
      </p:sp>
      <p:sp>
        <p:nvSpPr>
          <p:cNvPr id="142" name="Google Shape;142;p26"/>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Shoot 1 Arrow</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4 Wild Greens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Unequip Phrenic Bow</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187020" y="2294240"/>
            <a:ext cx="5112300" cy="897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solidFill>
                  <a:schemeClr val="lt1"/>
                </a:solidFill>
                <a:latin typeface="Century Gothic"/>
                <a:ea typeface="Century Gothic"/>
                <a:cs typeface="Century Gothic"/>
                <a:sym typeface="Century Gothic"/>
              </a:rPr>
              <a:t>Bow of Light</a:t>
            </a:r>
            <a:endParaRPr b="1">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8"/>
          <p:cNvPicPr preferRelativeResize="0"/>
          <p:nvPr/>
        </p:nvPicPr>
        <p:blipFill>
          <a:blip r:embed="rId3">
            <a:alphaModFix/>
          </a:blip>
          <a:stretch>
            <a:fillRect/>
          </a:stretch>
        </p:blipFill>
        <p:spPr>
          <a:xfrm>
            <a:off x="3667475" y="1"/>
            <a:ext cx="1832250" cy="1360550"/>
          </a:xfrm>
          <a:prstGeom prst="rect">
            <a:avLst/>
          </a:prstGeom>
          <a:noFill/>
          <a:ln>
            <a:noFill/>
          </a:ln>
        </p:spPr>
      </p:pic>
      <p:sp>
        <p:nvSpPr>
          <p:cNvPr id="153" name="Google Shape;153;p28"/>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West Castle Branch</a:t>
            </a:r>
            <a:endParaRPr b="1">
              <a:solidFill>
                <a:schemeClr val="lt1"/>
              </a:solidFill>
              <a:latin typeface="Century Gothic"/>
              <a:ea typeface="Century Gothic"/>
              <a:cs typeface="Century Gothic"/>
              <a:sym typeface="Century Gothic"/>
            </a:endParaRPr>
          </a:p>
        </p:txBody>
      </p:sp>
      <p:sp>
        <p:nvSpPr>
          <p:cNvPr id="154" name="Google Shape;154;p28"/>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BLSS to Upland Lindor Talus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BLSS to Aldor Foothills Hinox</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Bomb Arrow a tree for fire and Wood</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Drop Wood and all other materials</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Make Night</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WB to Rowan Plain Stalnox</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WB to North Hyrule Castle Hinox</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WB to Hyrule Castle West Talus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WB and enter Castle to Hyrule Castle Stalnox</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Leave Area</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Sanctum</a:t>
            </a:r>
            <a:endParaRPr b="1">
              <a:solidFill>
                <a:schemeClr val="lt1"/>
              </a:solidFill>
              <a:latin typeface="Century Gothic"/>
              <a:ea typeface="Century Gothic"/>
              <a:cs typeface="Century Gothic"/>
              <a:sym typeface="Century Gothic"/>
            </a:endParaRPr>
          </a:p>
        </p:txBody>
      </p:sp>
      <p:sp>
        <p:nvSpPr>
          <p:cNvPr id="160" name="Google Shape;160;p29"/>
          <p:cNvSpPr txBox="1"/>
          <p:nvPr>
            <p:ph idx="1" type="body"/>
          </p:nvPr>
        </p:nvSpPr>
        <p:spPr>
          <a:xfrm>
            <a:off x="187020" y="1229307"/>
            <a:ext cx="5112300" cy="36441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WB to sanctum</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Get bullet time skew</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Blights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Calamity</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Phase 1 - Bomb Arrow</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Phase 2 - Skew bounce into bullet time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Dark Beast</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Clear skew and ragdoll glitch</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Drop shield</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Eat all but 7 food</a:t>
            </a:r>
            <a:endParaRPr>
              <a:solidFill>
                <a:schemeClr val="lt2"/>
              </a:solidFill>
              <a:latin typeface="Helvetica Neue"/>
              <a:ea typeface="Helvetica Neue"/>
              <a:cs typeface="Helvetica Neue"/>
              <a:sym typeface="Helvetica Neue"/>
            </a:endParaRPr>
          </a:p>
          <a:p>
            <a:pPr indent="-317500" lvl="1" marL="914400" rtl="0" algn="l">
              <a:spcBef>
                <a:spcPts val="0"/>
              </a:spcBef>
              <a:spcAft>
                <a:spcPts val="0"/>
              </a:spcAft>
              <a:buClr>
                <a:schemeClr val="lt2"/>
              </a:buClr>
              <a:buSzPts val="1400"/>
              <a:buFont typeface="Helvetica Neue"/>
              <a:buAutoNum type="alphaLcPeriod"/>
            </a:pPr>
            <a:r>
              <a:rPr lang="en">
                <a:solidFill>
                  <a:schemeClr val="lt2"/>
                </a:solidFill>
                <a:latin typeface="Helvetica Neue"/>
                <a:ea typeface="Helvetica Neue"/>
                <a:cs typeface="Helvetica Neue"/>
                <a:sym typeface="Helvetica Neue"/>
              </a:rPr>
              <a:t>Final shot:</a:t>
            </a:r>
            <a:endParaRPr>
              <a:solidFill>
                <a:schemeClr val="lt2"/>
              </a:solidFill>
              <a:latin typeface="Helvetica Neue"/>
              <a:ea typeface="Helvetica Neue"/>
              <a:cs typeface="Helvetica Neue"/>
              <a:sym typeface="Helvetica Neue"/>
            </a:endParaRPr>
          </a:p>
          <a:p>
            <a:pPr indent="-317500" lvl="2" marL="1371600" rtl="0" algn="l">
              <a:spcBef>
                <a:spcPts val="0"/>
              </a:spcBef>
              <a:spcAft>
                <a:spcPts val="0"/>
              </a:spcAft>
              <a:buClr>
                <a:schemeClr val="lt2"/>
              </a:buClr>
              <a:buSzPts val="1400"/>
              <a:buFont typeface="Helvetica Neue"/>
              <a:buAutoNum type="romanLcPeriod"/>
            </a:pPr>
            <a:r>
              <a:rPr lang="en">
                <a:solidFill>
                  <a:schemeClr val="lt2"/>
                </a:solidFill>
                <a:latin typeface="Helvetica Neue"/>
                <a:ea typeface="Helvetica Neue"/>
                <a:cs typeface="Helvetica Neue"/>
                <a:sym typeface="Helvetica Neue"/>
              </a:rPr>
              <a:t>Pause before impact</a:t>
            </a:r>
            <a:endParaRPr>
              <a:solidFill>
                <a:schemeClr val="lt2"/>
              </a:solidFill>
              <a:latin typeface="Helvetica Neue"/>
              <a:ea typeface="Helvetica Neue"/>
              <a:cs typeface="Helvetica Neue"/>
              <a:sym typeface="Helvetica Neue"/>
            </a:endParaRPr>
          </a:p>
          <a:p>
            <a:pPr indent="-317500" lvl="2" marL="1371600" rtl="0" algn="l">
              <a:spcBef>
                <a:spcPts val="0"/>
              </a:spcBef>
              <a:spcAft>
                <a:spcPts val="0"/>
              </a:spcAft>
              <a:buClr>
                <a:schemeClr val="lt2"/>
              </a:buClr>
              <a:buSzPts val="1400"/>
              <a:buFont typeface="Helvetica Neue"/>
              <a:buAutoNum type="romanLcPeriod"/>
            </a:pPr>
            <a:r>
              <a:rPr lang="en">
                <a:solidFill>
                  <a:schemeClr val="lt2"/>
                </a:solidFill>
                <a:latin typeface="Helvetica Neue"/>
                <a:ea typeface="Helvetica Neue"/>
                <a:cs typeface="Helvetica Neue"/>
                <a:sym typeface="Helvetica Neue"/>
              </a:rPr>
              <a:t>Switch to Phrenic Bow</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WMC9. Bow of Light</a:t>
            </a:r>
            <a:endParaRPr b="1">
              <a:solidFill>
                <a:schemeClr val="lt1"/>
              </a:solidFill>
              <a:latin typeface="Century Gothic"/>
              <a:ea typeface="Century Gothic"/>
              <a:cs typeface="Century Gothic"/>
              <a:sym typeface="Century Gothic"/>
            </a:endParaRPr>
          </a:p>
        </p:txBody>
      </p:sp>
      <p:sp>
        <p:nvSpPr>
          <p:cNvPr id="166" name="Google Shape;166;p30"/>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Reload game.</a:t>
            </a:r>
            <a:endParaRPr>
              <a:solidFill>
                <a:schemeClr val="lt2"/>
              </a:solidFill>
              <a:latin typeface="Helvetica Neue"/>
              <a:ea typeface="Helvetica Neue"/>
              <a:cs typeface="Helvetica Neue"/>
              <a:sym typeface="Helvetica Neue"/>
            </a:endParaRPr>
          </a:p>
          <a:p>
            <a:pPr indent="-342900" lvl="0" marL="457200" rtl="0" algn="l">
              <a:spcBef>
                <a:spcPts val="120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Sort bows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Drop shield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Eat all but 8 food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Save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Reload</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The Rest</a:t>
            </a:r>
            <a:endParaRPr b="1">
              <a:solidFill>
                <a:schemeClr val="lt1"/>
              </a:solidFill>
              <a:latin typeface="Century Gothic"/>
              <a:ea typeface="Century Gothic"/>
              <a:cs typeface="Century Gothic"/>
              <a:sym typeface="Century Gothic"/>
            </a:endParaRPr>
          </a:p>
        </p:txBody>
      </p:sp>
      <p:sp>
        <p:nvSpPr>
          <p:cNvPr id="172" name="Google Shape;172;p31"/>
          <p:cNvSpPr txBox="1"/>
          <p:nvPr>
            <p:ph idx="1" type="body"/>
          </p:nvPr>
        </p:nvSpPr>
        <p:spPr>
          <a:xfrm>
            <a:off x="187025" y="4105600"/>
            <a:ext cx="5112300" cy="7677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u="sng">
                <a:solidFill>
                  <a:schemeClr val="hlink"/>
                </a:solidFill>
                <a:latin typeface="Helvetica Neue"/>
                <a:ea typeface="Helvetica Neue"/>
                <a:cs typeface="Helvetica Neue"/>
                <a:sym typeface="Helvetica Neue"/>
                <a:hlinkClick r:id="rId3"/>
              </a:rPr>
              <a:t>object map json</a:t>
            </a:r>
            <a:r>
              <a:rPr lang="en">
                <a:solidFill>
                  <a:schemeClr val="lt2"/>
                </a:solidFill>
                <a:latin typeface="Helvetica Neue"/>
                <a:ea typeface="Helvetica Neue"/>
                <a:cs typeface="Helvetica Neue"/>
                <a:sym typeface="Helvetica Neue"/>
              </a:rPr>
              <a:t> (2022-10-30)</a:t>
            </a:r>
            <a:endParaRPr>
              <a:solidFill>
                <a:schemeClr val="lt2"/>
              </a:solidFill>
              <a:latin typeface="Helvetica Neue"/>
              <a:ea typeface="Helvetica Neue"/>
              <a:cs typeface="Helvetica Neue"/>
              <a:sym typeface="Helvetica Neue"/>
            </a:endParaRPr>
          </a:p>
          <a:p>
            <a:pPr indent="0" lvl="0" marL="0" rtl="0" algn="ctr">
              <a:lnSpc>
                <a:spcPct val="100000"/>
              </a:lnSpc>
              <a:spcBef>
                <a:spcPts val="0"/>
              </a:spcBef>
              <a:spcAft>
                <a:spcPts val="0"/>
              </a:spcAft>
              <a:buNone/>
            </a:pPr>
            <a:r>
              <a:rPr lang="en" u="sng">
                <a:solidFill>
                  <a:schemeClr val="hlink"/>
                </a:solidFill>
                <a:latin typeface="Helvetica Neue"/>
                <a:ea typeface="Helvetica Neue"/>
                <a:cs typeface="Helvetica Neue"/>
                <a:sym typeface="Helvetica Neue"/>
                <a:hlinkClick r:id="rId4"/>
              </a:rPr>
              <a:t>video</a:t>
            </a:r>
            <a:endParaRPr>
              <a:solidFill>
                <a:schemeClr val="lt2"/>
              </a:solidFill>
              <a:latin typeface="Helvetica Neue"/>
              <a:ea typeface="Helvetica Neue"/>
              <a:cs typeface="Helvetica Neue"/>
              <a:sym typeface="Helvetica Neue"/>
            </a:endParaRPr>
          </a:p>
        </p:txBody>
      </p:sp>
      <p:pic>
        <p:nvPicPr>
          <p:cNvPr id="173" name="Google Shape;173;p31"/>
          <p:cNvPicPr preferRelativeResize="0"/>
          <p:nvPr/>
        </p:nvPicPr>
        <p:blipFill>
          <a:blip r:embed="rId5">
            <a:alphaModFix/>
          </a:blip>
          <a:stretch>
            <a:fillRect/>
          </a:stretch>
        </p:blipFill>
        <p:spPr>
          <a:xfrm>
            <a:off x="953812" y="1085800"/>
            <a:ext cx="3578825" cy="3019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187020" y="2294240"/>
            <a:ext cx="5112300" cy="897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solidFill>
                  <a:schemeClr val="lt1"/>
                </a:solidFill>
                <a:latin typeface="Century Gothic"/>
                <a:ea typeface="Century Gothic"/>
                <a:cs typeface="Century Gothic"/>
                <a:sym typeface="Century Gothic"/>
              </a:rPr>
              <a:t>References</a:t>
            </a:r>
            <a:endParaRPr b="1">
              <a:solidFill>
                <a:schemeClr val="lt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682324" y="474700"/>
            <a:ext cx="46170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Invalid Star Tab</a:t>
            </a:r>
            <a:endParaRPr b="1">
              <a:solidFill>
                <a:schemeClr val="lt1"/>
              </a:solidFill>
              <a:latin typeface="Century Gothic"/>
              <a:ea typeface="Century Gothic"/>
              <a:cs typeface="Century Gothic"/>
              <a:sym typeface="Century Gothic"/>
            </a:endParaRPr>
          </a:p>
        </p:txBody>
      </p:sp>
      <p:sp>
        <p:nvSpPr>
          <p:cNvPr id="184" name="Google Shape;184;p33"/>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"Invalid star tab" refers to a state of the inventory where the cursor is hovering over the Star icon. After this state is reached, prompt entanglement becomes possible. The state persists through saving/reloading until we close the game or return to the title screen.</a:t>
            </a:r>
            <a:endParaRPr>
              <a:solidFill>
                <a:schemeClr val="lt2"/>
              </a:solidFill>
              <a:latin typeface="Helvetica Neue"/>
              <a:ea typeface="Helvetica Neue"/>
              <a:cs typeface="Helvetica Neue"/>
              <a:sym typeface="Helvetica Neue"/>
            </a:endParaRPr>
          </a:p>
          <a:p>
            <a:pPr indent="0" lvl="0" marL="0" rtl="0" algn="l">
              <a:spcBef>
                <a:spcPts val="1200"/>
              </a:spcBef>
              <a:spcAft>
                <a:spcPts val="0"/>
              </a:spcAft>
              <a:buNone/>
            </a:pPr>
            <a:r>
              <a:rPr lang="en">
                <a:solidFill>
                  <a:schemeClr val="lt2"/>
                </a:solidFill>
                <a:latin typeface="Helvetica Neue"/>
                <a:ea typeface="Helvetica Neue"/>
                <a:cs typeface="Helvetica Neue"/>
                <a:sym typeface="Helvetica Neue"/>
              </a:rPr>
              <a:t>Completing Dark Beast forces a return to the title screen so prompt entanglement is lost at that point in the run.</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t/>
            </a:r>
            <a:endParaRPr>
              <a:solidFill>
                <a:schemeClr val="lt2"/>
              </a:solidFill>
              <a:latin typeface="Helvetica Neue"/>
              <a:ea typeface="Helvetica Neue"/>
              <a:cs typeface="Helvetica Neue"/>
              <a:sym typeface="Helvetica Neue"/>
            </a:endParaRPr>
          </a:p>
        </p:txBody>
      </p:sp>
      <p:sp>
        <p:nvSpPr>
          <p:cNvPr id="185" name="Google Shape;185;p33"/>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1/2</a:t>
            </a:r>
            <a:endParaRPr>
              <a:solidFill>
                <a:schemeClr val="lt2"/>
              </a:solidFill>
              <a:latin typeface="Helvetica Neue"/>
              <a:ea typeface="Helvetica Neue"/>
              <a:cs typeface="Helvetica Neue"/>
              <a:sym typeface="Helvetica Neue"/>
            </a:endParaRPr>
          </a:p>
        </p:txBody>
      </p:sp>
      <p:pic>
        <p:nvPicPr>
          <p:cNvPr id="186" name="Google Shape;186;p33"/>
          <p:cNvPicPr preferRelativeResize="0"/>
          <p:nvPr/>
        </p:nvPicPr>
        <p:blipFill>
          <a:blip r:embed="rId3">
            <a:alphaModFix/>
          </a:blip>
          <a:stretch>
            <a:fillRect/>
          </a:stretch>
        </p:blipFill>
        <p:spPr>
          <a:xfrm>
            <a:off x="187025" y="537350"/>
            <a:ext cx="495300" cy="4857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682325" y="474700"/>
            <a:ext cx="46170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Invalid Star Tab</a:t>
            </a:r>
            <a:endParaRPr b="1">
              <a:solidFill>
                <a:schemeClr val="lt1"/>
              </a:solidFill>
              <a:latin typeface="Century Gothic"/>
              <a:ea typeface="Century Gothic"/>
              <a:cs typeface="Century Gothic"/>
              <a:sym typeface="Century Gothic"/>
            </a:endParaRPr>
          </a:p>
        </p:txBody>
      </p:sp>
      <p:sp>
        <p:nvSpPr>
          <p:cNvPr id="192" name="Google Shape;192;p34"/>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In this run, invalid star tab is activated by</a:t>
            </a:r>
            <a:endParaRPr>
              <a:solidFill>
                <a:schemeClr val="lt2"/>
              </a:solidFill>
              <a:latin typeface="Helvetica Neue"/>
              <a:ea typeface="Helvetica Neue"/>
              <a:cs typeface="Helvetica Neue"/>
              <a:sym typeface="Helvetica Neue"/>
            </a:endParaRPr>
          </a:p>
          <a:p>
            <a:pPr indent="-342900" lvl="0" marL="457200" rtl="0" algn="l">
              <a:spcBef>
                <a:spcPts val="120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Using IST, transferring the Hylian Hood into the save at Goddess Statue where the armor tab is undiscovered.</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Pausing and then tabbing right quickly until the cursor appears over the Star icon.</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If #3 doesn't work and instead the cursor appears in the bottom-left, the backup is: unpause+pause twice, then tab left quickly.</a:t>
            </a:r>
            <a:endParaRPr>
              <a:solidFill>
                <a:schemeClr val="lt2"/>
              </a:solidFill>
              <a:latin typeface="Helvetica Neue"/>
              <a:ea typeface="Helvetica Neue"/>
              <a:cs typeface="Helvetica Neue"/>
              <a:sym typeface="Helvetica Neue"/>
            </a:endParaRPr>
          </a:p>
        </p:txBody>
      </p:sp>
      <p:sp>
        <p:nvSpPr>
          <p:cNvPr id="193" name="Google Shape;193;p34"/>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2</a:t>
            </a:r>
            <a:r>
              <a:rPr lang="en">
                <a:solidFill>
                  <a:schemeClr val="lt2"/>
                </a:solidFill>
                <a:latin typeface="Helvetica Neue"/>
                <a:ea typeface="Helvetica Neue"/>
                <a:cs typeface="Helvetica Neue"/>
                <a:sym typeface="Helvetica Neue"/>
              </a:rPr>
              <a:t>/2</a:t>
            </a:r>
            <a:endParaRPr>
              <a:solidFill>
                <a:schemeClr val="lt2"/>
              </a:solidFill>
              <a:latin typeface="Helvetica Neue"/>
              <a:ea typeface="Helvetica Neue"/>
              <a:cs typeface="Helvetica Neue"/>
              <a:sym typeface="Helvetica Neue"/>
            </a:endParaRPr>
          </a:p>
        </p:txBody>
      </p:sp>
      <p:pic>
        <p:nvPicPr>
          <p:cNvPr id="194" name="Google Shape;194;p34"/>
          <p:cNvPicPr preferRelativeResize="0"/>
          <p:nvPr/>
        </p:nvPicPr>
        <p:blipFill>
          <a:blip r:embed="rId3">
            <a:alphaModFix/>
          </a:blip>
          <a:stretch>
            <a:fillRect/>
          </a:stretch>
        </p:blipFill>
        <p:spPr>
          <a:xfrm>
            <a:off x="187025" y="537363"/>
            <a:ext cx="495300" cy="485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5"/>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Prompt Entanglement</a:t>
            </a:r>
            <a:endParaRPr b="1">
              <a:solidFill>
                <a:schemeClr val="lt1"/>
              </a:solidFill>
              <a:latin typeface="Century Gothic"/>
              <a:ea typeface="Century Gothic"/>
              <a:cs typeface="Century Gothic"/>
              <a:sym typeface="Century Gothic"/>
            </a:endParaRPr>
          </a:p>
        </p:txBody>
      </p:sp>
      <p:sp>
        <p:nvSpPr>
          <p:cNvPr id="200" name="Google Shape;200;p35"/>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Pressing A while an item is selected in the inventory brings up a context menu. Different types of items have different context menus.</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rPr lang="en">
                <a:solidFill>
                  <a:schemeClr val="lt2"/>
                </a:solidFill>
                <a:latin typeface="Helvetica Neue"/>
                <a:ea typeface="Helvetica Neue"/>
                <a:cs typeface="Helvetica Neue"/>
                <a:sym typeface="Helvetica Neue"/>
              </a:rPr>
              <a:t>"Prompt entanglement" refers to a state where the item that the game thinks is selected is not the same as the one that the cursor is currently highlighting. And therefore, an option that is normally only available for materials (such as "Eat") can be applied to something else (such as armor).</a:t>
            </a:r>
            <a:endParaRPr>
              <a:solidFill>
                <a:schemeClr val="lt2"/>
              </a:solidFill>
              <a:latin typeface="Helvetica Neue"/>
              <a:ea typeface="Helvetica Neue"/>
              <a:cs typeface="Helvetica Neue"/>
              <a:sym typeface="Helvetica Neue"/>
            </a:endParaRPr>
          </a:p>
        </p:txBody>
      </p:sp>
      <p:sp>
        <p:nvSpPr>
          <p:cNvPr id="201" name="Google Shape;201;p35"/>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1/6</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6"/>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Prompt Entanglement</a:t>
            </a:r>
            <a:endParaRPr b="1">
              <a:solidFill>
                <a:schemeClr val="lt1"/>
              </a:solidFill>
              <a:latin typeface="Century Gothic"/>
              <a:ea typeface="Century Gothic"/>
              <a:cs typeface="Century Gothic"/>
              <a:sym typeface="Century Gothic"/>
            </a:endParaRPr>
          </a:p>
        </p:txBody>
      </p:sp>
      <p:sp>
        <p:nvSpPr>
          <p:cNvPr id="207" name="Google Shape;207;p36"/>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In this run, prompt entanglement is used to</a:t>
            </a:r>
            <a:endParaRPr>
              <a:solidFill>
                <a:schemeClr val="lt2"/>
              </a:solidFill>
              <a:latin typeface="Helvetica Neue"/>
              <a:ea typeface="Helvetica Neue"/>
              <a:cs typeface="Helvetica Neue"/>
              <a:sym typeface="Helvetica Neue"/>
            </a:endParaRPr>
          </a:p>
          <a:p>
            <a:pPr indent="-342900" lvl="0" marL="457200" rtl="0" algn="l">
              <a:spcBef>
                <a:spcPts val="1200"/>
              </a:spcBef>
              <a:spcAft>
                <a:spcPts val="0"/>
              </a:spcAft>
              <a:buClr>
                <a:schemeClr val="lt2"/>
              </a:buClr>
              <a:buSzPts val="1800"/>
              <a:buFont typeface="Helvetica Neue"/>
              <a:buAutoNum type="arabicPeriod"/>
            </a:pPr>
            <a:r>
              <a:rPr b="1" lang="en">
                <a:solidFill>
                  <a:schemeClr val="lt2"/>
                </a:solidFill>
                <a:latin typeface="Helvetica Neue"/>
                <a:ea typeface="Helvetica Neue"/>
                <a:cs typeface="Helvetica Neue"/>
                <a:sym typeface="Helvetica Neue"/>
              </a:rPr>
              <a:t>Eat Normal Arrow slot</a:t>
            </a:r>
            <a:r>
              <a:rPr lang="en">
                <a:solidFill>
                  <a:schemeClr val="lt2"/>
                </a:solidFill>
                <a:latin typeface="Helvetica Neue"/>
                <a:ea typeface="Helvetica Neue"/>
                <a:cs typeface="Helvetica Neue"/>
                <a:sym typeface="Helvetica Neue"/>
              </a:rPr>
              <a:t> - All arrow types must be corrupted for WMC. It's faster to corrupt only 1 type of arrow, and bomb arrows are far more valuable.</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b="1" lang="en">
                <a:solidFill>
                  <a:schemeClr val="lt2"/>
                </a:solidFill>
                <a:latin typeface="Helvetica Neue"/>
                <a:ea typeface="Helvetica Neue"/>
                <a:cs typeface="Helvetica Neue"/>
                <a:sym typeface="Helvetica Neue"/>
              </a:rPr>
              <a:t>Eat Hylian Hood</a:t>
            </a:r>
            <a:r>
              <a:rPr lang="en">
                <a:solidFill>
                  <a:schemeClr val="lt2"/>
                </a:solidFill>
                <a:latin typeface="Helvetica Neue"/>
                <a:ea typeface="Helvetica Neue"/>
                <a:cs typeface="Helvetica Neue"/>
                <a:sym typeface="Helvetica Neue"/>
              </a:rPr>
              <a:t> - Armor needs to be removed before WMC, and eating is slightly faster than selling.</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b="1" lang="en">
                <a:solidFill>
                  <a:schemeClr val="lt2"/>
                </a:solidFill>
                <a:latin typeface="Helvetica Neue"/>
                <a:ea typeface="Helvetica Neue"/>
                <a:cs typeface="Helvetica Neue"/>
                <a:sym typeface="Helvetica Neue"/>
              </a:rPr>
              <a:t>Hold 3 Roasted Endura Carrots</a:t>
            </a:r>
            <a:r>
              <a:rPr lang="en">
                <a:solidFill>
                  <a:schemeClr val="lt2"/>
                </a:solidFill>
                <a:latin typeface="Helvetica Neue"/>
                <a:ea typeface="Helvetica Neue"/>
                <a:cs typeface="Helvetica Neue"/>
                <a:sym typeface="Helvetica Neue"/>
              </a:rPr>
              <a:t> - This is a critical ingredient of the WMC recipe.</a:t>
            </a:r>
            <a:endParaRPr>
              <a:solidFill>
                <a:schemeClr val="lt2"/>
              </a:solidFill>
              <a:latin typeface="Helvetica Neue"/>
              <a:ea typeface="Helvetica Neue"/>
              <a:cs typeface="Helvetica Neue"/>
              <a:sym typeface="Helvetica Neue"/>
            </a:endParaRPr>
          </a:p>
        </p:txBody>
      </p:sp>
      <p:sp>
        <p:nvSpPr>
          <p:cNvPr id="208" name="Google Shape;208;p36"/>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2</a:t>
            </a:r>
            <a:r>
              <a:rPr lang="en">
                <a:solidFill>
                  <a:schemeClr val="lt2"/>
                </a:solidFill>
                <a:latin typeface="Helvetica Neue"/>
                <a:ea typeface="Helvetica Neue"/>
                <a:cs typeface="Helvetica Neue"/>
                <a:sym typeface="Helvetica Neue"/>
              </a:rPr>
              <a:t>/6</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7"/>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Prompt Entanglement</a:t>
            </a:r>
            <a:endParaRPr b="1">
              <a:solidFill>
                <a:schemeClr val="lt1"/>
              </a:solidFill>
              <a:latin typeface="Century Gothic"/>
              <a:ea typeface="Century Gothic"/>
              <a:cs typeface="Century Gothic"/>
              <a:sym typeface="Century Gothic"/>
            </a:endParaRPr>
          </a:p>
        </p:txBody>
      </p:sp>
      <p:sp>
        <p:nvSpPr>
          <p:cNvPr id="214" name="Google Shape;214;p37"/>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To entangle the prompts of two items, those items must be in corresponding slots that are 3 pages away from each other (or a multiple of 3 pages).</a:t>
            </a:r>
            <a:endParaRPr>
              <a:solidFill>
                <a:schemeClr val="lt2"/>
              </a:solidFill>
              <a:latin typeface="Helvetica Neue"/>
              <a:ea typeface="Helvetica Neue"/>
              <a:cs typeface="Helvetica Neue"/>
              <a:sym typeface="Helvetica Neue"/>
            </a:endParaRPr>
          </a:p>
          <a:p>
            <a:pPr indent="0" lvl="0" marL="0" rtl="0" algn="l">
              <a:spcBef>
                <a:spcPts val="1200"/>
              </a:spcBef>
              <a:spcAft>
                <a:spcPts val="0"/>
              </a:spcAft>
              <a:buNone/>
            </a:pPr>
            <a:r>
              <a:rPr lang="en">
                <a:solidFill>
                  <a:schemeClr val="lt2"/>
                </a:solidFill>
                <a:latin typeface="Helvetica Neue"/>
                <a:ea typeface="Helvetica Neue"/>
                <a:cs typeface="Helvetica Neue"/>
                <a:sym typeface="Helvetica Neue"/>
              </a:rPr>
              <a:t>For example, we can apply the prompt for the item that is in row 2, column 1 of the first Materials page, to Normal Arrows, which is in row 2, column 1, of the Bows page. This is because the order of tabs is:</a:t>
            </a:r>
            <a:endParaRPr>
              <a:solidFill>
                <a:schemeClr val="lt2"/>
              </a:solidFill>
              <a:latin typeface="Helvetica Neue"/>
              <a:ea typeface="Helvetica Neue"/>
              <a:cs typeface="Helvetica Neue"/>
              <a:sym typeface="Helvetica Neue"/>
            </a:endParaRPr>
          </a:p>
          <a:p>
            <a:pPr indent="0" lvl="0" marL="0" rtl="0" algn="ctr">
              <a:spcBef>
                <a:spcPts val="1200"/>
              </a:spcBef>
              <a:spcAft>
                <a:spcPts val="1200"/>
              </a:spcAft>
              <a:buNone/>
            </a:pPr>
            <a:r>
              <a:rPr lang="en">
                <a:solidFill>
                  <a:schemeClr val="lt2"/>
                </a:solidFill>
                <a:latin typeface="Helvetica Neue"/>
                <a:ea typeface="Helvetica Neue"/>
                <a:cs typeface="Helvetica Neue"/>
                <a:sym typeface="Helvetica Neue"/>
              </a:rPr>
              <a:t>Bows → Shields → Armor → Materials</a:t>
            </a:r>
            <a:endParaRPr>
              <a:solidFill>
                <a:schemeClr val="lt2"/>
              </a:solidFill>
              <a:latin typeface="Helvetica Neue"/>
              <a:ea typeface="Helvetica Neue"/>
              <a:cs typeface="Helvetica Neue"/>
              <a:sym typeface="Helvetica Neue"/>
            </a:endParaRPr>
          </a:p>
        </p:txBody>
      </p:sp>
      <p:sp>
        <p:nvSpPr>
          <p:cNvPr id="215" name="Google Shape;215;p37"/>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3</a:t>
            </a:r>
            <a:r>
              <a:rPr lang="en">
                <a:solidFill>
                  <a:schemeClr val="lt2"/>
                </a:solidFill>
                <a:latin typeface="Helvetica Neue"/>
                <a:ea typeface="Helvetica Neue"/>
                <a:cs typeface="Helvetica Neue"/>
                <a:sym typeface="Helvetica Neue"/>
              </a:rPr>
              <a:t>/6</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Prompt Entanglement</a:t>
            </a:r>
            <a:endParaRPr b="1">
              <a:solidFill>
                <a:schemeClr val="lt1"/>
              </a:solidFill>
              <a:latin typeface="Century Gothic"/>
              <a:ea typeface="Century Gothic"/>
              <a:cs typeface="Century Gothic"/>
              <a:sym typeface="Century Gothic"/>
            </a:endParaRPr>
          </a:p>
        </p:txBody>
      </p:sp>
      <p:sp>
        <p:nvSpPr>
          <p:cNvPr id="221" name="Google Shape;221;p38"/>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To execute prompt entanglement, we take two steps to place a glitched cursor on the specific row and column where our target items are.</a:t>
            </a:r>
            <a:endParaRPr>
              <a:solidFill>
                <a:schemeClr val="lt2"/>
              </a:solidFill>
              <a:latin typeface="Helvetica Neue"/>
              <a:ea typeface="Helvetica Neue"/>
              <a:cs typeface="Helvetica Neue"/>
              <a:sym typeface="Helvetica Neue"/>
            </a:endParaRPr>
          </a:p>
          <a:p>
            <a:pPr indent="0" lvl="0" marL="0" rtl="0" algn="l">
              <a:spcBef>
                <a:spcPts val="1200"/>
              </a:spcBef>
              <a:spcAft>
                <a:spcPts val="0"/>
              </a:spcAft>
              <a:buNone/>
            </a:pPr>
            <a:r>
              <a:rPr lang="en">
                <a:solidFill>
                  <a:schemeClr val="lt2"/>
                </a:solidFill>
                <a:latin typeface="Helvetica Neue"/>
                <a:ea typeface="Helvetica Neue"/>
                <a:cs typeface="Helvetica Neue"/>
                <a:sym typeface="Helvetica Neue"/>
              </a:rPr>
              <a:t>To place the glitched cursor in the correct row ("activating" that row):</a:t>
            </a:r>
            <a:endParaRPr>
              <a:solidFill>
                <a:schemeClr val="lt2"/>
              </a:solidFill>
              <a:latin typeface="Helvetica Neue"/>
              <a:ea typeface="Helvetica Neue"/>
              <a:cs typeface="Helvetica Neue"/>
              <a:sym typeface="Helvetica Neue"/>
            </a:endParaRPr>
          </a:p>
          <a:p>
            <a:pPr indent="-342900" lvl="0" marL="457200" rtl="0" algn="l">
              <a:spcBef>
                <a:spcPts val="120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Start 1 page to the right or 2 pages to the left of the target item.</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Start in the row below the row of the target item.</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Input:</a:t>
            </a:r>
            <a:endParaRPr>
              <a:solidFill>
                <a:schemeClr val="lt2"/>
              </a:solidFill>
              <a:latin typeface="Helvetica Neue"/>
              <a:ea typeface="Helvetica Neue"/>
              <a:cs typeface="Helvetica Neue"/>
              <a:sym typeface="Helvetica Neue"/>
            </a:endParaRPr>
          </a:p>
        </p:txBody>
      </p:sp>
      <p:sp>
        <p:nvSpPr>
          <p:cNvPr id="222" name="Google Shape;222;p38"/>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4</a:t>
            </a:r>
            <a:r>
              <a:rPr lang="en">
                <a:solidFill>
                  <a:schemeClr val="lt2"/>
                </a:solidFill>
                <a:latin typeface="Helvetica Neue"/>
                <a:ea typeface="Helvetica Neue"/>
                <a:cs typeface="Helvetica Neue"/>
                <a:sym typeface="Helvetica Neue"/>
              </a:rPr>
              <a:t>/6</a:t>
            </a:r>
            <a:endParaRPr>
              <a:solidFill>
                <a:schemeClr val="lt2"/>
              </a:solidFill>
              <a:latin typeface="Helvetica Neue"/>
              <a:ea typeface="Helvetica Neue"/>
              <a:cs typeface="Helvetica Neue"/>
              <a:sym typeface="Helvetica Neue"/>
            </a:endParaRPr>
          </a:p>
        </p:txBody>
      </p:sp>
      <p:pic>
        <p:nvPicPr>
          <p:cNvPr id="223" name="Google Shape;223;p38"/>
          <p:cNvPicPr preferRelativeResize="0"/>
          <p:nvPr/>
        </p:nvPicPr>
        <p:blipFill>
          <a:blip r:embed="rId3">
            <a:alphaModFix/>
          </a:blip>
          <a:stretch>
            <a:fillRect/>
          </a:stretch>
        </p:blipFill>
        <p:spPr>
          <a:xfrm>
            <a:off x="1371625" y="4652888"/>
            <a:ext cx="685800" cy="685800"/>
          </a:xfrm>
          <a:prstGeom prst="rect">
            <a:avLst/>
          </a:prstGeom>
          <a:noFill/>
          <a:ln>
            <a:noFill/>
          </a:ln>
        </p:spPr>
      </p:pic>
      <p:pic>
        <p:nvPicPr>
          <p:cNvPr id="224" name="Google Shape;224;p38"/>
          <p:cNvPicPr preferRelativeResize="0"/>
          <p:nvPr/>
        </p:nvPicPr>
        <p:blipFill>
          <a:blip r:embed="rId4">
            <a:alphaModFix/>
          </a:blip>
          <a:stretch>
            <a:fillRect/>
          </a:stretch>
        </p:blipFill>
        <p:spPr>
          <a:xfrm>
            <a:off x="2057425" y="4652888"/>
            <a:ext cx="685800" cy="685800"/>
          </a:xfrm>
          <a:prstGeom prst="rect">
            <a:avLst/>
          </a:prstGeom>
          <a:noFill/>
          <a:ln>
            <a:noFill/>
          </a:ln>
        </p:spPr>
      </p:pic>
      <p:pic>
        <p:nvPicPr>
          <p:cNvPr id="225" name="Google Shape;225;p38"/>
          <p:cNvPicPr preferRelativeResize="0"/>
          <p:nvPr/>
        </p:nvPicPr>
        <p:blipFill>
          <a:blip r:embed="rId5">
            <a:alphaModFix/>
          </a:blip>
          <a:stretch>
            <a:fillRect/>
          </a:stretch>
        </p:blipFill>
        <p:spPr>
          <a:xfrm>
            <a:off x="2743225" y="4652888"/>
            <a:ext cx="685800" cy="685800"/>
          </a:xfrm>
          <a:prstGeom prst="rect">
            <a:avLst/>
          </a:prstGeom>
          <a:noFill/>
          <a:ln>
            <a:noFill/>
          </a:ln>
        </p:spPr>
      </p:pic>
      <p:pic>
        <p:nvPicPr>
          <p:cNvPr id="226" name="Google Shape;226;p38"/>
          <p:cNvPicPr preferRelativeResize="0"/>
          <p:nvPr/>
        </p:nvPicPr>
        <p:blipFill>
          <a:blip r:embed="rId6">
            <a:alphaModFix/>
          </a:blip>
          <a:stretch>
            <a:fillRect/>
          </a:stretch>
        </p:blipFill>
        <p:spPr>
          <a:xfrm>
            <a:off x="3429025" y="4652888"/>
            <a:ext cx="685800" cy="685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Prompt Entanglement</a:t>
            </a:r>
            <a:endParaRPr b="1">
              <a:solidFill>
                <a:schemeClr val="lt1"/>
              </a:solidFill>
              <a:latin typeface="Century Gothic"/>
              <a:ea typeface="Century Gothic"/>
              <a:cs typeface="Century Gothic"/>
              <a:sym typeface="Century Gothic"/>
            </a:endParaRPr>
          </a:p>
        </p:txBody>
      </p:sp>
      <p:sp>
        <p:nvSpPr>
          <p:cNvPr id="232" name="Google Shape;232;p39"/>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The second step "activates" the first column:</a:t>
            </a:r>
            <a:endParaRPr>
              <a:solidFill>
                <a:schemeClr val="lt2"/>
              </a:solidFill>
              <a:latin typeface="Helvetica Neue"/>
              <a:ea typeface="Helvetica Neue"/>
              <a:cs typeface="Helvetica Neue"/>
              <a:sym typeface="Helvetica Neue"/>
            </a:endParaRPr>
          </a:p>
          <a:p>
            <a:pPr indent="-342900" lvl="0" marL="457200" rtl="0" algn="l">
              <a:spcBef>
                <a:spcPts val="120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Tab left 2 pages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Press</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Input:</a:t>
            </a:r>
            <a:endParaRPr>
              <a:solidFill>
                <a:schemeClr val="lt2"/>
              </a:solidFill>
              <a:latin typeface="Helvetica Neue"/>
              <a:ea typeface="Helvetica Neue"/>
              <a:cs typeface="Helvetica Neue"/>
              <a:sym typeface="Helvetica Neue"/>
            </a:endParaRPr>
          </a:p>
          <a:p>
            <a:pPr indent="0" lvl="0" marL="0" rtl="0" algn="l">
              <a:spcBef>
                <a:spcPts val="1200"/>
              </a:spcBef>
              <a:spcAft>
                <a:spcPts val="0"/>
              </a:spcAft>
              <a:buNone/>
            </a:pPr>
            <a:r>
              <a:t/>
            </a:r>
            <a:endParaRPr>
              <a:solidFill>
                <a:schemeClr val="lt2"/>
              </a:solidFill>
              <a:latin typeface="Helvetica Neue"/>
              <a:ea typeface="Helvetica Neue"/>
              <a:cs typeface="Helvetica Neue"/>
              <a:sym typeface="Helvetica Neue"/>
            </a:endParaRPr>
          </a:p>
          <a:p>
            <a:pPr indent="0" lvl="0" marL="0" rtl="0" algn="l">
              <a:spcBef>
                <a:spcPts val="1200"/>
              </a:spcBef>
              <a:spcAft>
                <a:spcPts val="0"/>
              </a:spcAft>
              <a:buNone/>
            </a:pPr>
            <a:r>
              <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rPr i="1" lang="en">
                <a:solidFill>
                  <a:schemeClr val="lt2"/>
                </a:solidFill>
                <a:latin typeface="Helvetica Neue"/>
                <a:ea typeface="Helvetica Neue"/>
                <a:cs typeface="Helvetica Neue"/>
                <a:sym typeface="Helvetica Neue"/>
              </a:rPr>
              <a:t>For ways to activate the 4th row or other columns, see </a:t>
            </a:r>
            <a:r>
              <a:rPr i="1" lang="en" u="sng">
                <a:solidFill>
                  <a:schemeClr val="hlink"/>
                </a:solidFill>
                <a:latin typeface="Helvetica Neue"/>
                <a:ea typeface="Helvetica Neue"/>
                <a:cs typeface="Helvetica Neue"/>
                <a:sym typeface="Helvetica Neue"/>
                <a:hlinkClick r:id="rId3"/>
              </a:rPr>
              <a:t>El Duende 05's tutorial</a:t>
            </a:r>
            <a:r>
              <a:rPr i="1" lang="en">
                <a:solidFill>
                  <a:schemeClr val="lt2"/>
                </a:solidFill>
                <a:latin typeface="Helvetica Neue"/>
                <a:ea typeface="Helvetica Neue"/>
                <a:cs typeface="Helvetica Neue"/>
                <a:sym typeface="Helvetica Neue"/>
              </a:rPr>
              <a:t>.</a:t>
            </a:r>
            <a:endParaRPr i="1">
              <a:solidFill>
                <a:schemeClr val="lt2"/>
              </a:solidFill>
              <a:latin typeface="Helvetica Neue"/>
              <a:ea typeface="Helvetica Neue"/>
              <a:cs typeface="Helvetica Neue"/>
              <a:sym typeface="Helvetica Neue"/>
            </a:endParaRPr>
          </a:p>
        </p:txBody>
      </p:sp>
      <p:sp>
        <p:nvSpPr>
          <p:cNvPr id="233" name="Google Shape;233;p39"/>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5</a:t>
            </a:r>
            <a:r>
              <a:rPr lang="en">
                <a:solidFill>
                  <a:schemeClr val="lt2"/>
                </a:solidFill>
                <a:latin typeface="Helvetica Neue"/>
                <a:ea typeface="Helvetica Neue"/>
                <a:cs typeface="Helvetica Neue"/>
                <a:sym typeface="Helvetica Neue"/>
              </a:rPr>
              <a:t>/6</a:t>
            </a:r>
            <a:endParaRPr>
              <a:solidFill>
                <a:schemeClr val="lt2"/>
              </a:solidFill>
              <a:latin typeface="Helvetica Neue"/>
              <a:ea typeface="Helvetica Neue"/>
              <a:cs typeface="Helvetica Neue"/>
              <a:sym typeface="Helvetica Neue"/>
            </a:endParaRPr>
          </a:p>
        </p:txBody>
      </p:sp>
      <p:pic>
        <p:nvPicPr>
          <p:cNvPr id="234" name="Google Shape;234;p39"/>
          <p:cNvPicPr preferRelativeResize="0"/>
          <p:nvPr/>
        </p:nvPicPr>
        <p:blipFill>
          <a:blip r:embed="rId4">
            <a:alphaModFix/>
          </a:blip>
          <a:stretch>
            <a:fillRect/>
          </a:stretch>
        </p:blipFill>
        <p:spPr>
          <a:xfrm>
            <a:off x="1394150" y="2089275"/>
            <a:ext cx="313850" cy="313850"/>
          </a:xfrm>
          <a:prstGeom prst="rect">
            <a:avLst/>
          </a:prstGeom>
          <a:noFill/>
          <a:ln>
            <a:noFill/>
          </a:ln>
        </p:spPr>
      </p:pic>
      <p:grpSp>
        <p:nvGrpSpPr>
          <p:cNvPr id="235" name="Google Shape;235;p39"/>
          <p:cNvGrpSpPr/>
          <p:nvPr/>
        </p:nvGrpSpPr>
        <p:grpSpPr>
          <a:xfrm>
            <a:off x="1333575" y="2761663"/>
            <a:ext cx="2743200" cy="685800"/>
            <a:chOff x="616975" y="2962450"/>
            <a:chExt cx="3657600" cy="914400"/>
          </a:xfrm>
        </p:grpSpPr>
        <p:pic>
          <p:nvPicPr>
            <p:cNvPr id="236" name="Google Shape;236;p39"/>
            <p:cNvPicPr preferRelativeResize="0"/>
            <p:nvPr/>
          </p:nvPicPr>
          <p:blipFill>
            <a:blip r:embed="rId5">
              <a:alphaModFix/>
            </a:blip>
            <a:stretch>
              <a:fillRect/>
            </a:stretch>
          </p:blipFill>
          <p:spPr>
            <a:xfrm>
              <a:off x="616975" y="2962450"/>
              <a:ext cx="914400" cy="914400"/>
            </a:xfrm>
            <a:prstGeom prst="rect">
              <a:avLst/>
            </a:prstGeom>
            <a:noFill/>
            <a:ln>
              <a:noFill/>
            </a:ln>
          </p:spPr>
        </p:pic>
        <p:pic>
          <p:nvPicPr>
            <p:cNvPr id="237" name="Google Shape;237;p39"/>
            <p:cNvPicPr preferRelativeResize="0"/>
            <p:nvPr/>
          </p:nvPicPr>
          <p:blipFill>
            <a:blip r:embed="rId4">
              <a:alphaModFix/>
            </a:blip>
            <a:stretch>
              <a:fillRect/>
            </a:stretch>
          </p:blipFill>
          <p:spPr>
            <a:xfrm>
              <a:off x="1531375" y="2962450"/>
              <a:ext cx="914400" cy="914400"/>
            </a:xfrm>
            <a:prstGeom prst="rect">
              <a:avLst/>
            </a:prstGeom>
            <a:noFill/>
            <a:ln>
              <a:noFill/>
            </a:ln>
          </p:spPr>
        </p:pic>
        <p:pic>
          <p:nvPicPr>
            <p:cNvPr id="238" name="Google Shape;238;p39"/>
            <p:cNvPicPr preferRelativeResize="0"/>
            <p:nvPr/>
          </p:nvPicPr>
          <p:blipFill>
            <a:blip r:embed="rId4">
              <a:alphaModFix/>
            </a:blip>
            <a:stretch>
              <a:fillRect/>
            </a:stretch>
          </p:blipFill>
          <p:spPr>
            <a:xfrm>
              <a:off x="2445775" y="2962450"/>
              <a:ext cx="914400" cy="914400"/>
            </a:xfrm>
            <a:prstGeom prst="rect">
              <a:avLst/>
            </a:prstGeom>
            <a:noFill/>
            <a:ln>
              <a:noFill/>
            </a:ln>
          </p:spPr>
        </p:pic>
        <p:pic>
          <p:nvPicPr>
            <p:cNvPr id="239" name="Google Shape;239;p39"/>
            <p:cNvPicPr preferRelativeResize="0"/>
            <p:nvPr/>
          </p:nvPicPr>
          <p:blipFill>
            <a:blip r:embed="rId5">
              <a:alphaModFix/>
            </a:blip>
            <a:stretch>
              <a:fillRect/>
            </a:stretch>
          </p:blipFill>
          <p:spPr>
            <a:xfrm>
              <a:off x="3360175" y="2962450"/>
              <a:ext cx="914400" cy="914400"/>
            </a:xfrm>
            <a:prstGeom prst="rect">
              <a:avLst/>
            </a:prstGeom>
            <a:noFill/>
            <a:ln>
              <a:noFill/>
            </a:ln>
          </p:spPr>
        </p:pic>
      </p:grpSp>
      <p:pic>
        <p:nvPicPr>
          <p:cNvPr id="240" name="Google Shape;240;p39"/>
          <p:cNvPicPr preferRelativeResize="0"/>
          <p:nvPr/>
        </p:nvPicPr>
        <p:blipFill>
          <a:blip r:embed="rId6">
            <a:alphaModFix/>
          </a:blip>
          <a:stretch>
            <a:fillRect/>
          </a:stretch>
        </p:blipFill>
        <p:spPr>
          <a:xfrm>
            <a:off x="2429375" y="1775424"/>
            <a:ext cx="313850" cy="313850"/>
          </a:xfrm>
          <a:prstGeom prst="rect">
            <a:avLst/>
          </a:prstGeom>
          <a:noFill/>
          <a:ln>
            <a:noFill/>
          </a:ln>
        </p:spPr>
      </p:pic>
      <p:pic>
        <p:nvPicPr>
          <p:cNvPr id="241" name="Google Shape;241;p39"/>
          <p:cNvPicPr preferRelativeResize="0"/>
          <p:nvPr/>
        </p:nvPicPr>
        <p:blipFill>
          <a:blip r:embed="rId6">
            <a:alphaModFix/>
          </a:blip>
          <a:stretch>
            <a:fillRect/>
          </a:stretch>
        </p:blipFill>
        <p:spPr>
          <a:xfrm>
            <a:off x="2743225" y="1775424"/>
            <a:ext cx="313850" cy="313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0"/>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Prompt Entanglement</a:t>
            </a:r>
            <a:endParaRPr b="1">
              <a:solidFill>
                <a:schemeClr val="lt1"/>
              </a:solidFill>
              <a:latin typeface="Century Gothic"/>
              <a:ea typeface="Century Gothic"/>
              <a:cs typeface="Century Gothic"/>
              <a:sym typeface="Century Gothic"/>
            </a:endParaRPr>
          </a:p>
        </p:txBody>
      </p:sp>
      <p:sp>
        <p:nvSpPr>
          <p:cNvPr id="247" name="Google Shape;247;p40"/>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Now the glitched cursor can be moved 3 pages at a time left or right while retaining the prompt of the last slot that was "captured."</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rPr lang="en">
                <a:solidFill>
                  <a:schemeClr val="lt2"/>
                </a:solidFill>
                <a:latin typeface="Helvetica Neue"/>
                <a:ea typeface="Helvetica Neue"/>
                <a:cs typeface="Helvetica Neue"/>
                <a:sym typeface="Helvetica Neue"/>
              </a:rPr>
              <a:t>To "capture" the prompt of a new slot, move to the system menu (press R) and return to the inventory (press L).</a:t>
            </a:r>
            <a:endParaRPr>
              <a:solidFill>
                <a:schemeClr val="lt2"/>
              </a:solidFill>
              <a:latin typeface="Helvetica Neue"/>
              <a:ea typeface="Helvetica Neue"/>
              <a:cs typeface="Helvetica Neue"/>
              <a:sym typeface="Helvetica Neue"/>
            </a:endParaRPr>
          </a:p>
        </p:txBody>
      </p:sp>
      <p:sp>
        <p:nvSpPr>
          <p:cNvPr id="248" name="Google Shape;248;p40"/>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6</a:t>
            </a:r>
            <a:r>
              <a:rPr lang="en">
                <a:solidFill>
                  <a:schemeClr val="lt2"/>
                </a:solidFill>
                <a:latin typeface="Helvetica Neue"/>
                <a:ea typeface="Helvetica Neue"/>
                <a:cs typeface="Helvetica Neue"/>
                <a:sym typeface="Helvetica Neue"/>
              </a:rPr>
              <a:t>/6</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1"/>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Weapon Modifier Corruption</a:t>
            </a:r>
            <a:endParaRPr b="1">
              <a:solidFill>
                <a:schemeClr val="lt1"/>
              </a:solidFill>
              <a:latin typeface="Century Gothic"/>
              <a:ea typeface="Century Gothic"/>
              <a:cs typeface="Century Gothic"/>
              <a:sym typeface="Century Gothic"/>
            </a:endParaRPr>
          </a:p>
        </p:txBody>
      </p:sp>
      <p:sp>
        <p:nvSpPr>
          <p:cNvPr id="254" name="Google Shape;254;p41"/>
          <p:cNvSpPr txBox="1"/>
          <p:nvPr>
            <p:ph idx="1" type="body"/>
          </p:nvPr>
        </p:nvSpPr>
        <p:spPr>
          <a:xfrm>
            <a:off x="187020" y="1229307"/>
            <a:ext cx="5112300" cy="3644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When the game adds a food item to inventory, it does it in two steps:</a:t>
            </a:r>
            <a:endParaRPr>
              <a:solidFill>
                <a:schemeClr val="lt2"/>
              </a:solidFill>
              <a:latin typeface="Helvetica Neue"/>
              <a:ea typeface="Helvetica Neue"/>
              <a:cs typeface="Helvetica Neue"/>
              <a:sym typeface="Helvetica Neue"/>
            </a:endParaRPr>
          </a:p>
          <a:p>
            <a:pPr indent="-334328" lvl="0" marL="457200" rtl="0" algn="l">
              <a:spcBef>
                <a:spcPts val="1200"/>
              </a:spcBef>
              <a:spcAft>
                <a:spcPts val="0"/>
              </a:spcAft>
              <a:buClr>
                <a:schemeClr val="lt2"/>
              </a:buClr>
              <a:buSzPct val="100000"/>
              <a:buFont typeface="Helvetica Neue"/>
              <a:buAutoNum type="arabicPeriod"/>
            </a:pPr>
            <a:r>
              <a:rPr lang="en">
                <a:solidFill>
                  <a:schemeClr val="lt2"/>
                </a:solidFill>
                <a:latin typeface="Helvetica Neue"/>
                <a:ea typeface="Helvetica Neue"/>
                <a:cs typeface="Helvetica Neue"/>
                <a:sym typeface="Helvetica Neue"/>
              </a:rPr>
              <a:t>Add the food item to the inventory.</a:t>
            </a:r>
            <a:endParaRPr>
              <a:solidFill>
                <a:schemeClr val="lt2"/>
              </a:solidFill>
              <a:latin typeface="Helvetica Neue"/>
              <a:ea typeface="Helvetica Neue"/>
              <a:cs typeface="Helvetica Neue"/>
              <a:sym typeface="Helvetica Neue"/>
            </a:endParaRPr>
          </a:p>
          <a:p>
            <a:pPr indent="-334328" lvl="0" marL="457200" rtl="0" algn="l">
              <a:spcBef>
                <a:spcPts val="0"/>
              </a:spcBef>
              <a:spcAft>
                <a:spcPts val="0"/>
              </a:spcAft>
              <a:buClr>
                <a:schemeClr val="lt2"/>
              </a:buClr>
              <a:buSzPct val="100000"/>
              <a:buFont typeface="Helvetica Neue"/>
              <a:buAutoNum type="arabicPeriod"/>
            </a:pPr>
            <a:r>
              <a:rPr lang="en">
                <a:solidFill>
                  <a:schemeClr val="lt2"/>
                </a:solidFill>
                <a:latin typeface="Helvetica Neue"/>
                <a:ea typeface="Helvetica Neue"/>
                <a:cs typeface="Helvetica Neue"/>
                <a:sym typeface="Helvetica Neue"/>
              </a:rPr>
              <a:t>Write the food's CookData (sell price, heart recovery value) to the last loaded item.</a:t>
            </a:r>
            <a:endParaRPr>
              <a:solidFill>
                <a:schemeClr val="lt2"/>
              </a:solidFill>
              <a:latin typeface="Helvetica Neue"/>
              <a:ea typeface="Helvetica Neue"/>
              <a:cs typeface="Helvetica Neue"/>
              <a:sym typeface="Helvetica Neue"/>
            </a:endParaRPr>
          </a:p>
          <a:p>
            <a:pPr indent="0" lvl="0" marL="0" rtl="0" algn="l">
              <a:spcBef>
                <a:spcPts val="1200"/>
              </a:spcBef>
              <a:spcAft>
                <a:spcPts val="0"/>
              </a:spcAft>
              <a:buNone/>
            </a:pPr>
            <a:r>
              <a:rPr lang="en">
                <a:solidFill>
                  <a:schemeClr val="lt2"/>
                </a:solidFill>
                <a:latin typeface="Helvetica Neue"/>
                <a:ea typeface="Helvetica Neue"/>
                <a:cs typeface="Helvetica Neue"/>
                <a:sym typeface="Helvetica Neue"/>
              </a:rPr>
              <a:t>If step 1 succeeds, then the "last loaded item" in step 2 is always the added food item. And the game doesn't anticipate that step 1 would ever fail so it does step 2 no matter what.</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rPr lang="en">
                <a:solidFill>
                  <a:schemeClr val="lt2"/>
                </a:solidFill>
                <a:latin typeface="Helvetica Neue"/>
                <a:ea typeface="Helvetica Neue"/>
                <a:cs typeface="Helvetica Neue"/>
                <a:sym typeface="Helvetica Neue"/>
              </a:rPr>
              <a:t>This means that we can manipulate the game to erroneously write CookData onto another item if we get step 1 to fail.</a:t>
            </a:r>
            <a:endParaRPr>
              <a:solidFill>
                <a:schemeClr val="lt2"/>
              </a:solidFill>
              <a:latin typeface="Helvetica Neue"/>
              <a:ea typeface="Helvetica Neue"/>
              <a:cs typeface="Helvetica Neue"/>
              <a:sym typeface="Helvetica Neue"/>
            </a:endParaRPr>
          </a:p>
        </p:txBody>
      </p:sp>
      <p:sp>
        <p:nvSpPr>
          <p:cNvPr id="255" name="Google Shape;255;p41"/>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1</a:t>
            </a:r>
            <a:r>
              <a:rPr lang="en">
                <a:solidFill>
                  <a:schemeClr val="lt2"/>
                </a:solidFill>
                <a:latin typeface="Helvetica Neue"/>
                <a:ea typeface="Helvetica Neue"/>
                <a:cs typeface="Helvetica Neue"/>
                <a:sym typeface="Helvetica Neue"/>
              </a:rPr>
              <a:t>/7</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2"/>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Weapon Modifier Corruption</a:t>
            </a:r>
            <a:endParaRPr b="1">
              <a:solidFill>
                <a:schemeClr val="lt1"/>
              </a:solidFill>
              <a:latin typeface="Century Gothic"/>
              <a:ea typeface="Century Gothic"/>
              <a:cs typeface="Century Gothic"/>
              <a:sym typeface="Century Gothic"/>
            </a:endParaRPr>
          </a:p>
        </p:txBody>
      </p:sp>
      <p:sp>
        <p:nvSpPr>
          <p:cNvPr id="261" name="Google Shape;261;p42"/>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The main discovery of WMC is that when CookData is written onto a weapon, the game interprets it as modifiers for that weapon.</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rPr lang="en">
                <a:solidFill>
                  <a:schemeClr val="lt2"/>
                </a:solidFill>
                <a:latin typeface="Helvetica Neue"/>
                <a:ea typeface="Helvetica Neue"/>
                <a:cs typeface="Helvetica Neue"/>
                <a:sym typeface="Helvetica Neue"/>
              </a:rPr>
              <a:t>To obtain the correct CookData for the modifiers we want (10-shot, zoom, +attack), we need to include ingredients that normally aren't allowed in recipes. Hence, the relationship between Prompt Entanglement and WMC.</a:t>
            </a:r>
            <a:endParaRPr>
              <a:solidFill>
                <a:schemeClr val="lt2"/>
              </a:solidFill>
              <a:latin typeface="Helvetica Neue"/>
              <a:ea typeface="Helvetica Neue"/>
              <a:cs typeface="Helvetica Neue"/>
              <a:sym typeface="Helvetica Neue"/>
            </a:endParaRPr>
          </a:p>
        </p:txBody>
      </p:sp>
      <p:sp>
        <p:nvSpPr>
          <p:cNvPr id="262" name="Google Shape;262;p42"/>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2</a:t>
            </a:r>
            <a:r>
              <a:rPr lang="en">
                <a:solidFill>
                  <a:schemeClr val="lt2"/>
                </a:solidFill>
                <a:latin typeface="Helvetica Neue"/>
                <a:ea typeface="Helvetica Neue"/>
                <a:cs typeface="Helvetica Neue"/>
                <a:sym typeface="Helvetica Neue"/>
              </a:rPr>
              <a:t>/7</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Weapon Modifier Corruption</a:t>
            </a:r>
            <a:endParaRPr b="1">
              <a:solidFill>
                <a:schemeClr val="lt1"/>
              </a:solidFill>
              <a:latin typeface="Century Gothic"/>
              <a:ea typeface="Century Gothic"/>
              <a:cs typeface="Century Gothic"/>
              <a:sym typeface="Century Gothic"/>
            </a:endParaRPr>
          </a:p>
        </p:txBody>
      </p:sp>
      <p:sp>
        <p:nvSpPr>
          <p:cNvPr id="268" name="Google Shape;268;p43"/>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One important distinction to keep in mind is that items that are transferred by IST are never "loaded." They persist from the previous save. Only items that are brought into the inventory from a manual save or an autosave are considered loaded in.</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rPr lang="en">
                <a:solidFill>
                  <a:schemeClr val="lt2"/>
                </a:solidFill>
                <a:latin typeface="Helvetica Neue"/>
                <a:ea typeface="Helvetica Neue"/>
                <a:cs typeface="Helvetica Neue"/>
                <a:sym typeface="Helvetica Neue"/>
              </a:rPr>
              <a:t>This is why an extra save/reload is necessary to corrupt the Bow of Light after Dark Beast.</a:t>
            </a:r>
            <a:endParaRPr>
              <a:solidFill>
                <a:schemeClr val="lt2"/>
              </a:solidFill>
              <a:latin typeface="Helvetica Neue"/>
              <a:ea typeface="Helvetica Neue"/>
              <a:cs typeface="Helvetica Neue"/>
              <a:sym typeface="Helvetica Neue"/>
            </a:endParaRPr>
          </a:p>
        </p:txBody>
      </p:sp>
      <p:sp>
        <p:nvSpPr>
          <p:cNvPr id="269" name="Google Shape;269;p43"/>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3</a:t>
            </a:r>
            <a:r>
              <a:rPr lang="en">
                <a:solidFill>
                  <a:schemeClr val="lt2"/>
                </a:solidFill>
                <a:latin typeface="Helvetica Neue"/>
                <a:ea typeface="Helvetica Neue"/>
                <a:cs typeface="Helvetica Neue"/>
                <a:sym typeface="Helvetica Neue"/>
              </a:rPr>
              <a:t>/7</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Weapon Modifier Corruption</a:t>
            </a:r>
            <a:endParaRPr b="1">
              <a:solidFill>
                <a:schemeClr val="lt1"/>
              </a:solidFill>
              <a:latin typeface="Century Gothic"/>
              <a:ea typeface="Century Gothic"/>
              <a:cs typeface="Century Gothic"/>
              <a:sym typeface="Century Gothic"/>
            </a:endParaRPr>
          </a:p>
        </p:txBody>
      </p:sp>
      <p:sp>
        <p:nvSpPr>
          <p:cNvPr id="275" name="Google Shape;275;p44"/>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There are two ways that a food item can fail to load into the inventory.</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rPr lang="en">
                <a:solidFill>
                  <a:schemeClr val="lt2"/>
                </a:solidFill>
                <a:latin typeface="Helvetica Neue"/>
                <a:ea typeface="Helvetica Neue"/>
                <a:cs typeface="Helvetica Neue"/>
                <a:sym typeface="Helvetica Neue"/>
              </a:rPr>
              <a:t>The first is if there are already 3 full pages of food items. This can be triggered by using IST to transfer food to a save that already has food on it. If the number of food transferred + the number of food on the save exceeds 60, then the food items that would be the 61st (and later) will fail to load.</a:t>
            </a:r>
            <a:endParaRPr>
              <a:solidFill>
                <a:schemeClr val="lt2"/>
              </a:solidFill>
              <a:latin typeface="Helvetica Neue"/>
              <a:ea typeface="Helvetica Neue"/>
              <a:cs typeface="Helvetica Neue"/>
              <a:sym typeface="Helvetica Neue"/>
            </a:endParaRPr>
          </a:p>
        </p:txBody>
      </p:sp>
      <p:sp>
        <p:nvSpPr>
          <p:cNvPr id="276" name="Google Shape;276;p44"/>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4</a:t>
            </a:r>
            <a:r>
              <a:rPr lang="en">
                <a:solidFill>
                  <a:schemeClr val="lt2"/>
                </a:solidFill>
                <a:latin typeface="Helvetica Neue"/>
                <a:ea typeface="Helvetica Neue"/>
                <a:cs typeface="Helvetica Neue"/>
                <a:sym typeface="Helvetica Neue"/>
              </a:rPr>
              <a:t>/7</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Weapon Modifier Corruption</a:t>
            </a:r>
            <a:endParaRPr b="1">
              <a:solidFill>
                <a:schemeClr val="lt1"/>
              </a:solidFill>
              <a:latin typeface="Century Gothic"/>
              <a:ea typeface="Century Gothic"/>
              <a:cs typeface="Century Gothic"/>
              <a:sym typeface="Century Gothic"/>
            </a:endParaRPr>
          </a:p>
        </p:txBody>
      </p:sp>
      <p:sp>
        <p:nvSpPr>
          <p:cNvPr id="282" name="Google Shape;282;p45"/>
          <p:cNvSpPr txBox="1"/>
          <p:nvPr>
            <p:ph idx="1" type="body"/>
          </p:nvPr>
        </p:nvSpPr>
        <p:spPr>
          <a:xfrm>
            <a:off x="187020" y="1229307"/>
            <a:ext cx="5112300" cy="364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In this case, the last loaded item will likely be another food item unless 60 food are transferred (so that no food on the save can load).</a:t>
            </a:r>
            <a:endParaRPr>
              <a:solidFill>
                <a:schemeClr val="lt2"/>
              </a:solidFill>
              <a:latin typeface="Helvetica Neue"/>
              <a:ea typeface="Helvetica Neue"/>
              <a:cs typeface="Helvetica Neue"/>
              <a:sym typeface="Helvetica Neue"/>
            </a:endParaRPr>
          </a:p>
          <a:p>
            <a:pPr indent="0" lvl="0" marL="0" rtl="0" algn="l">
              <a:spcBef>
                <a:spcPts val="1200"/>
              </a:spcBef>
              <a:spcAft>
                <a:spcPts val="0"/>
              </a:spcAft>
              <a:buNone/>
            </a:pPr>
            <a:r>
              <a:rPr lang="en">
                <a:solidFill>
                  <a:schemeClr val="lt2"/>
                </a:solidFill>
                <a:latin typeface="Helvetica Neue"/>
                <a:ea typeface="Helvetica Neue"/>
                <a:cs typeface="Helvetica Neue"/>
                <a:sym typeface="Helvetica Neue"/>
              </a:rPr>
              <a:t>If our goal is to write CookData onto a weapon, this method would require at least 62 broken slots to transfer 60 food, impractical for a speedrun.</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Clr>
                <a:schemeClr val="dk1"/>
              </a:buClr>
              <a:buSzPts val="1100"/>
              <a:buFont typeface="Arial"/>
              <a:buNone/>
            </a:pPr>
            <a:r>
              <a:rPr lang="en">
                <a:solidFill>
                  <a:schemeClr val="lt2"/>
                </a:solidFill>
                <a:latin typeface="Helvetica Neue"/>
                <a:ea typeface="Helvetica Neue"/>
                <a:cs typeface="Helvetica Neue"/>
                <a:sym typeface="Helvetica Neue"/>
              </a:rPr>
              <a:t>However, this method is still employed by this setup, to be explained later.</a:t>
            </a:r>
            <a:endParaRPr>
              <a:solidFill>
                <a:schemeClr val="lt2"/>
              </a:solidFill>
              <a:latin typeface="Helvetica Neue"/>
              <a:ea typeface="Helvetica Neue"/>
              <a:cs typeface="Helvetica Neue"/>
              <a:sym typeface="Helvetica Neue"/>
            </a:endParaRPr>
          </a:p>
        </p:txBody>
      </p:sp>
      <p:sp>
        <p:nvSpPr>
          <p:cNvPr id="283" name="Google Shape;283;p45"/>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5</a:t>
            </a:r>
            <a:r>
              <a:rPr lang="en">
                <a:solidFill>
                  <a:schemeClr val="lt2"/>
                </a:solidFill>
                <a:latin typeface="Helvetica Neue"/>
                <a:ea typeface="Helvetica Neue"/>
                <a:cs typeface="Helvetica Neue"/>
                <a:sym typeface="Helvetica Neue"/>
              </a:rPr>
              <a:t>/7</a:t>
            </a:r>
            <a:endParaRPr>
              <a:solidFill>
                <a:schemeClr val="lt2"/>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6"/>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Weapon Modifier Corruption</a:t>
            </a:r>
            <a:endParaRPr b="1">
              <a:solidFill>
                <a:schemeClr val="lt1"/>
              </a:solidFill>
              <a:latin typeface="Century Gothic"/>
              <a:ea typeface="Century Gothic"/>
              <a:cs typeface="Century Gothic"/>
              <a:sym typeface="Century Gothic"/>
            </a:endParaRPr>
          </a:p>
        </p:txBody>
      </p:sp>
      <p:sp>
        <p:nvSpPr>
          <p:cNvPr id="289" name="Google Shape;289;p46"/>
          <p:cNvSpPr txBox="1"/>
          <p:nvPr>
            <p:ph idx="1" type="body"/>
          </p:nvPr>
        </p:nvSpPr>
        <p:spPr>
          <a:xfrm>
            <a:off x="187020" y="1229307"/>
            <a:ext cx="5112300" cy="3644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The second way that a food item could fail to load is specific to </a:t>
            </a:r>
            <a:r>
              <a:rPr i="1" lang="en">
                <a:solidFill>
                  <a:schemeClr val="lt2"/>
                </a:solidFill>
                <a:latin typeface="Helvetica Neue"/>
                <a:ea typeface="Helvetica Neue"/>
                <a:cs typeface="Helvetica Neue"/>
                <a:sym typeface="Helvetica Neue"/>
              </a:rPr>
              <a:t>stackable</a:t>
            </a:r>
            <a:r>
              <a:rPr lang="en">
                <a:solidFill>
                  <a:schemeClr val="lt2"/>
                </a:solidFill>
                <a:latin typeface="Helvetica Neue"/>
                <a:ea typeface="Helvetica Neue"/>
                <a:cs typeface="Helvetica Neue"/>
                <a:sym typeface="Helvetica Neue"/>
              </a:rPr>
              <a:t> food. "Roasted" food -- food that is cooked by fire and not a cook pot -- is stackable: a single slot in the inventory can hold more than one instance of that food.</a:t>
            </a:r>
            <a:endParaRPr>
              <a:solidFill>
                <a:schemeClr val="lt2"/>
              </a:solidFill>
              <a:latin typeface="Helvetica Neue"/>
              <a:ea typeface="Helvetica Neue"/>
              <a:cs typeface="Helvetica Neue"/>
              <a:sym typeface="Helvetica Neue"/>
            </a:endParaRPr>
          </a:p>
          <a:p>
            <a:pPr indent="0" lvl="0" marL="0" rtl="0" algn="l">
              <a:spcBef>
                <a:spcPts val="1200"/>
              </a:spcBef>
              <a:spcAft>
                <a:spcPts val="0"/>
              </a:spcAft>
              <a:buNone/>
            </a:pPr>
            <a:r>
              <a:rPr lang="en">
                <a:solidFill>
                  <a:schemeClr val="lt2"/>
                </a:solidFill>
                <a:latin typeface="Helvetica Neue"/>
                <a:ea typeface="Helvetica Neue"/>
                <a:cs typeface="Helvetica Neue"/>
                <a:sym typeface="Helvetica Neue"/>
              </a:rPr>
              <a:t>Similar to materials, a stackable food item will fail to load if the game attempts to add it to an inventory where:</a:t>
            </a:r>
            <a:endParaRPr>
              <a:solidFill>
                <a:schemeClr val="lt2"/>
              </a:solidFill>
              <a:latin typeface="Helvetica Neue"/>
              <a:ea typeface="Helvetica Neue"/>
              <a:cs typeface="Helvetica Neue"/>
              <a:sym typeface="Helvetica Neue"/>
            </a:endParaRPr>
          </a:p>
          <a:p>
            <a:pPr indent="-334328" lvl="0" marL="457200" rtl="0" algn="l">
              <a:spcBef>
                <a:spcPts val="1200"/>
              </a:spcBef>
              <a:spcAft>
                <a:spcPts val="0"/>
              </a:spcAft>
              <a:buClr>
                <a:schemeClr val="lt2"/>
              </a:buClr>
              <a:buSzPct val="100000"/>
              <a:buFont typeface="Helvetica Neue"/>
              <a:buChar char="-"/>
            </a:pPr>
            <a:r>
              <a:rPr lang="en">
                <a:solidFill>
                  <a:schemeClr val="lt2"/>
                </a:solidFill>
                <a:latin typeface="Helvetica Neue"/>
                <a:ea typeface="Helvetica Neue"/>
                <a:cs typeface="Helvetica Neue"/>
                <a:sym typeface="Helvetica Neue"/>
              </a:rPr>
              <a:t>one or more slots containing the same food item already exists in the inventory</a:t>
            </a:r>
            <a:endParaRPr>
              <a:solidFill>
                <a:schemeClr val="lt2"/>
              </a:solidFill>
              <a:latin typeface="Helvetica Neue"/>
              <a:ea typeface="Helvetica Neue"/>
              <a:cs typeface="Helvetica Neue"/>
              <a:sym typeface="Helvetica Neue"/>
            </a:endParaRPr>
          </a:p>
          <a:p>
            <a:pPr indent="-334328" lvl="0" marL="457200" rtl="0" algn="l">
              <a:spcBef>
                <a:spcPts val="0"/>
              </a:spcBef>
              <a:spcAft>
                <a:spcPts val="0"/>
              </a:spcAft>
              <a:buClr>
                <a:schemeClr val="lt2"/>
              </a:buClr>
              <a:buSzPct val="100000"/>
              <a:buFont typeface="Helvetica Neue"/>
              <a:buChar char="-"/>
            </a:pPr>
            <a:r>
              <a:rPr lang="en">
                <a:solidFill>
                  <a:schemeClr val="lt2"/>
                </a:solidFill>
                <a:latin typeface="Helvetica Neue"/>
                <a:ea typeface="Helvetica Neue"/>
                <a:cs typeface="Helvetica Neue"/>
                <a:sym typeface="Helvetica Neue"/>
              </a:rPr>
              <a:t>the combined total of all stacks would exceed 999</a:t>
            </a:r>
            <a:endParaRPr>
              <a:solidFill>
                <a:schemeClr val="lt2"/>
              </a:solidFill>
              <a:latin typeface="Helvetica Neue"/>
              <a:ea typeface="Helvetica Neue"/>
              <a:cs typeface="Helvetica Neue"/>
              <a:sym typeface="Helvetica Neue"/>
            </a:endParaRPr>
          </a:p>
        </p:txBody>
      </p:sp>
      <p:sp>
        <p:nvSpPr>
          <p:cNvPr id="290" name="Google Shape;290;p46"/>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6</a:t>
            </a:r>
            <a:r>
              <a:rPr lang="en">
                <a:solidFill>
                  <a:schemeClr val="lt2"/>
                </a:solidFill>
                <a:latin typeface="Helvetica Neue"/>
                <a:ea typeface="Helvetica Neue"/>
                <a:cs typeface="Helvetica Neue"/>
                <a:sym typeface="Helvetica Neue"/>
              </a:rPr>
              <a:t>/7</a:t>
            </a:r>
            <a:endParaRPr>
              <a:solidFill>
                <a:schemeClr val="lt2"/>
              </a:solidFill>
              <a:latin typeface="Helvetica Neue"/>
              <a:ea typeface="Helvetica Neue"/>
              <a:cs typeface="Helvetica Neue"/>
              <a:sym typeface="Helvetica Neue"/>
            </a:endParaRPr>
          </a:p>
        </p:txBody>
      </p:sp>
      <p:pic>
        <p:nvPicPr>
          <p:cNvPr id="291" name="Google Shape;291;p46"/>
          <p:cNvPicPr preferRelativeResize="0"/>
          <p:nvPr/>
        </p:nvPicPr>
        <p:blipFill>
          <a:blip r:embed="rId3">
            <a:alphaModFix/>
          </a:blip>
          <a:stretch>
            <a:fillRect/>
          </a:stretch>
        </p:blipFill>
        <p:spPr>
          <a:xfrm>
            <a:off x="4877950" y="2016650"/>
            <a:ext cx="500450" cy="518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187020" y="474693"/>
            <a:ext cx="51123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Century Gothic"/>
                <a:ea typeface="Century Gothic"/>
                <a:cs typeface="Century Gothic"/>
                <a:sym typeface="Century Gothic"/>
              </a:rPr>
              <a:t>Weapon Modifier Corruption</a:t>
            </a:r>
            <a:endParaRPr b="1">
              <a:solidFill>
                <a:schemeClr val="lt1"/>
              </a:solidFill>
              <a:latin typeface="Century Gothic"/>
              <a:ea typeface="Century Gothic"/>
              <a:cs typeface="Century Gothic"/>
              <a:sym typeface="Century Gothic"/>
            </a:endParaRPr>
          </a:p>
        </p:txBody>
      </p:sp>
      <p:sp>
        <p:nvSpPr>
          <p:cNvPr id="297" name="Google Shape;297;p47"/>
          <p:cNvSpPr txBox="1"/>
          <p:nvPr>
            <p:ph idx="1" type="body"/>
          </p:nvPr>
        </p:nvSpPr>
        <p:spPr>
          <a:xfrm>
            <a:off x="187020" y="1229307"/>
            <a:ext cx="5112300" cy="3644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lt2"/>
                </a:solidFill>
                <a:latin typeface="Helvetica Neue"/>
                <a:ea typeface="Helvetica Neue"/>
                <a:cs typeface="Helvetica Neue"/>
                <a:sym typeface="Helvetica Neue"/>
              </a:rPr>
              <a:t>The general outline of this setup is:</a:t>
            </a:r>
            <a:endParaRPr>
              <a:solidFill>
                <a:schemeClr val="lt2"/>
              </a:solidFill>
              <a:latin typeface="Helvetica Neue"/>
              <a:ea typeface="Helvetica Neue"/>
              <a:cs typeface="Helvetica Neue"/>
              <a:sym typeface="Helvetica Neue"/>
            </a:endParaRPr>
          </a:p>
          <a:p>
            <a:pPr indent="-342900" lvl="0" marL="457200" rtl="0" algn="l">
              <a:spcBef>
                <a:spcPts val="120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Force the WMC meal to fail to load and have a Seared Steak (a stackable food) be the last loaded item. The Seared Steak then has the CookData of the WMC meal.</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Corrupt the Seared Steak to 500+.</a:t>
            </a:r>
            <a:endParaRPr>
              <a:solidFill>
                <a:schemeClr val="lt2"/>
              </a:solidFill>
              <a:latin typeface="Helvetica Neue"/>
              <a:ea typeface="Helvetica Neue"/>
              <a:cs typeface="Helvetica Neue"/>
              <a:sym typeface="Helvetica Neue"/>
            </a:endParaRPr>
          </a:p>
          <a:p>
            <a:pPr indent="-342900" lvl="0" marL="457200" rtl="0" algn="l">
              <a:spcBef>
                <a:spcPts val="0"/>
              </a:spcBef>
              <a:spcAft>
                <a:spcPts val="0"/>
              </a:spcAft>
              <a:buClr>
                <a:schemeClr val="lt2"/>
              </a:buClr>
              <a:buSzPts val="1800"/>
              <a:buFont typeface="Helvetica Neue"/>
              <a:buAutoNum type="arabicPeriod"/>
            </a:pPr>
            <a:r>
              <a:rPr lang="en">
                <a:solidFill>
                  <a:schemeClr val="lt2"/>
                </a:solidFill>
                <a:latin typeface="Helvetica Neue"/>
                <a:ea typeface="Helvetica Neue"/>
                <a:cs typeface="Helvetica Neue"/>
                <a:sym typeface="Helvetica Neue"/>
              </a:rPr>
              <a:t>Force the Seared Steak to fail to load and have a Phrenic Bow be the last loaded item.</a:t>
            </a:r>
            <a:endParaRPr>
              <a:solidFill>
                <a:schemeClr val="lt2"/>
              </a:solidFill>
              <a:latin typeface="Helvetica Neue"/>
              <a:ea typeface="Helvetica Neue"/>
              <a:cs typeface="Helvetica Neue"/>
              <a:sym typeface="Helvetica Neue"/>
            </a:endParaRPr>
          </a:p>
          <a:p>
            <a:pPr indent="0" lvl="0" marL="0" rtl="0" algn="l">
              <a:spcBef>
                <a:spcPts val="1200"/>
              </a:spcBef>
              <a:spcAft>
                <a:spcPts val="1200"/>
              </a:spcAft>
              <a:buNone/>
            </a:pPr>
            <a:r>
              <a:rPr lang="en">
                <a:solidFill>
                  <a:schemeClr val="lt2"/>
                </a:solidFill>
                <a:latin typeface="Helvetica Neue"/>
                <a:ea typeface="Helvetica Neue"/>
                <a:cs typeface="Helvetica Neue"/>
                <a:sym typeface="Helvetica Neue"/>
              </a:rPr>
              <a:t>The Phrenic Bow ends up with the CookData of the Seared Steak which was overwritten by the CookData of the WMC meal.</a:t>
            </a:r>
            <a:endParaRPr>
              <a:solidFill>
                <a:schemeClr val="lt2"/>
              </a:solidFill>
              <a:latin typeface="Helvetica Neue"/>
              <a:ea typeface="Helvetica Neue"/>
              <a:cs typeface="Helvetica Neue"/>
              <a:sym typeface="Helvetica Neue"/>
            </a:endParaRPr>
          </a:p>
        </p:txBody>
      </p:sp>
      <p:sp>
        <p:nvSpPr>
          <p:cNvPr id="298" name="Google Shape;298;p47"/>
          <p:cNvSpPr txBox="1"/>
          <p:nvPr>
            <p:ph idx="1" type="body"/>
          </p:nvPr>
        </p:nvSpPr>
        <p:spPr>
          <a:xfrm>
            <a:off x="149025" y="4873406"/>
            <a:ext cx="5112300" cy="4653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n">
                <a:solidFill>
                  <a:schemeClr val="lt2"/>
                </a:solidFill>
                <a:latin typeface="Helvetica Neue"/>
                <a:ea typeface="Helvetica Neue"/>
                <a:cs typeface="Helvetica Neue"/>
                <a:sym typeface="Helvetica Neue"/>
              </a:rPr>
              <a:t>7</a:t>
            </a:r>
            <a:r>
              <a:rPr lang="en">
                <a:solidFill>
                  <a:schemeClr val="lt2"/>
                </a:solidFill>
                <a:latin typeface="Helvetica Neue"/>
                <a:ea typeface="Helvetica Neue"/>
                <a:cs typeface="Helvetica Neue"/>
                <a:sym typeface="Helvetica Neue"/>
              </a:rPr>
              <a:t>/7</a:t>
            </a:r>
            <a:endParaRPr>
              <a:solidFill>
                <a:schemeClr val="lt2"/>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E7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