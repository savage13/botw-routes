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7315200" cx="5486400"/>
  <p:notesSz cx="6858000" cy="9144000"/>
  <p:embeddedFontLst>
    <p:embeddedFont>
      <p:font typeface="Roboto Mono Medium"/>
      <p:regular r:id="rId26"/>
      <p:bold r:id="rId27"/>
      <p:italic r:id="rId28"/>
      <p:boldItalic r:id="rId29"/>
    </p:embeddedFont>
    <p:embeddedFont>
      <p:font typeface="Roboto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04">
          <p15:clr>
            <a:srgbClr val="A4A3A4"/>
          </p15:clr>
        </p15:guide>
        <p15:guide id="2" pos="17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04" orient="horz"/>
        <p:guide pos="172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Medium-regular.fntdata"/><Relationship Id="rId25" Type="http://schemas.openxmlformats.org/officeDocument/2006/relationships/slide" Target="slides/slide20.xml"/><Relationship Id="rId28" Type="http://schemas.openxmlformats.org/officeDocument/2006/relationships/font" Target="fonts/RobotoMonoMedium-italic.fntdata"/><Relationship Id="rId27" Type="http://schemas.openxmlformats.org/officeDocument/2006/relationships/font" Target="fonts/RobotoMono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Medium-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fntdata"/><Relationship Id="rId30" Type="http://schemas.openxmlformats.org/officeDocument/2006/relationships/font" Target="fonts/RobotoMono-regular.fntdata"/><Relationship Id="rId11" Type="http://schemas.openxmlformats.org/officeDocument/2006/relationships/slide" Target="slides/slide6.xml"/><Relationship Id="rId33" Type="http://schemas.openxmlformats.org/officeDocument/2006/relationships/font" Target="fonts/RobotoMono-boldItalic.fntdata"/><Relationship Id="rId10" Type="http://schemas.openxmlformats.org/officeDocument/2006/relationships/slide" Target="slides/slide5.xml"/><Relationship Id="rId32" Type="http://schemas.openxmlformats.org/officeDocument/2006/relationships/font" Target="fonts/RobotoMon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59b6531258_0_48: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59b653125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9599e515c1_0_0: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9599e515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9591628247_0_16: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959162824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9591628247_0_0: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95916282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59b6531258_0_52: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59b653125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61b3b9031a_0_5: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61b3b9031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61b3b9031a_0_14: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61b3b9031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61b3b9031a_0_18: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61b3b9031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59b6531258_0_44: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59b653125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61b3b9031a_0_22: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61b3b9031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61b3b9031a_0_26: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61b3b9031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61b3b9031a_0_30: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61b3b9031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e02609b51_0_2: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e02609b5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e02609b51_0_8: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e02609b5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e02609b51_0_12: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e02609b5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ce02609b51_0_218: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ce02609b51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e02609b51_0_64: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e02609b51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e02609b51_0_113: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ce02609b51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e02609b51_0_162: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e02609b51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e02609b51_0_169:notes"/>
          <p:cNvSpPr/>
          <p:nvPr>
            <p:ph idx="2" type="sldImg"/>
          </p:nvPr>
        </p:nvSpPr>
        <p:spPr>
          <a:xfrm>
            <a:off x="2143455" y="685800"/>
            <a:ext cx="25716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e02609b51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87025" y="1058951"/>
            <a:ext cx="5112300" cy="2919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87020" y="4030756"/>
            <a:ext cx="5112300" cy="1127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87020" y="3058987"/>
            <a:ext cx="5112300" cy="1197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87020" y="632924"/>
            <a:ext cx="5112300" cy="814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187020" y="1639076"/>
            <a:ext cx="5112300" cy="4858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87020" y="632924"/>
            <a:ext cx="5112300" cy="814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187020" y="1639076"/>
            <a:ext cx="2400000" cy="4858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2899440" y="1639076"/>
            <a:ext cx="2400000" cy="4858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87020" y="632924"/>
            <a:ext cx="5112300" cy="814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87020" y="790187"/>
            <a:ext cx="1684800" cy="10749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187020" y="1976320"/>
            <a:ext cx="1684800" cy="4521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94150" y="640213"/>
            <a:ext cx="3820800" cy="58179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743200" y="36"/>
            <a:ext cx="2743200" cy="7315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59300" y="1753849"/>
            <a:ext cx="2427000" cy="210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159300" y="3986596"/>
            <a:ext cx="2427000" cy="1756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2963700" y="1029973"/>
            <a:ext cx="2302200" cy="52554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87020" y="6016818"/>
            <a:ext cx="3599400" cy="860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87020" y="1573156"/>
            <a:ext cx="5112300" cy="279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187020" y="4483164"/>
            <a:ext cx="5112300" cy="18501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5083475" y="6632131"/>
            <a:ext cx="329100" cy="55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87020" y="632924"/>
            <a:ext cx="5112300" cy="814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87020" y="1639076"/>
            <a:ext cx="5112300" cy="4858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5083475" y="6632131"/>
            <a:ext cx="329100" cy="55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ist.pistonite.app/?v4=H4sIAAAAAAAAA8VZbY_bNhL-bsD_YQLjcAlgu-uXTdMegkPSvDS4FrdYb1scin6gpLFEmCJVklrH-fWHGZJ68XqT4HC42y8rURI5fGb4zDPj2Yfd3Te__fwDOPRtA3tj4fU_736D1dXVX-DX1fLFcr2cTmZHYw_CmlYX_IqTNShZSz-dzBolfPh6OnHiHhfCgTN2OnkitfRwDZkVOq_AG5tXID4iOCU8TidP3Ml5rOF3d9L5wtyjPRqrij-mkxI9ZOKAhWgahdMJivF9Wka03tDy08nsnVHKHOHWtDR1YU1zYeUwc2P8QskCNtBg06B1sAFXWWNqB5k5mMwc4RqEtebowCksSqxEXaOFF-AaaaU3NoNGWFEqWaCFNXwSTZiBpmp1vF4D6qK1YtHdW_HJ2HhXGY0neqcs4Tko41sHW2is1Dk6B7aN7-2NReeLIyqF1pFxIjdWwxZkjmwlfAtFa6XQsIajMQVs4WCsOUBhRWl0ZjTSvnLVZrAXKqch2mJm6ixMYM1JqFyJU20shruyFbZw3ZgWp8IKtxe6hA0InUvUPny8BiU_CbU3zgtl9OBOqu6mIpMZDqnLRR03t3AHPKKFSjh_WpgaFXqoUFh_WjhJmGOx2NtWeiiktkKoYEF1UlJoV0lURW-Oyy0e001OVqcHhGrZ3VVi72EL1cm2CjPhHJhGKNjAXkhLLtGyrOi1AmEVfZjTXj1kiF6lABvFRoqcxngKruT7PhTKEradm6O_LiAdov3LgEwnrW5E63A6mfV_08nsw-4Odnevbu9m50_eSes8OEX7sCgOUpfTyeyNAVe3ZakQSiV9Xi3hR6OKPqbnw7CdjzGdc8DNB4gtYRdmW1Q0i6-wBqEL8EIdwBtwlWmWsEOl6JlDkB5rB0_xY46NP_PYsZJ5RZ-0qoAMQXi4Wj6bTp5YrM09jk7e-HSN54nnYujZ6eQJgwBbRsRNJ7MbmR-CwW0DUoOxBdrAGYOIOLOQ5u2NGJgQHDkamO0wN7p46AKKJqMRzB5Q5BXsranJEsiQWK1G7aXRWMTAS-HPSwYSG9BOiC1aLThiDuyJVTc7IR5mnifX986aP-KpMz8F9rrkn5F7Rpauk63rEUnGs8AzPuYVvEd78hUhHnwj9Gnon_EsZwt0qw6tmU5md5W0D52xGx2GB-BdwO0rIeuj5L8JWzfrBegK3cBL8BWxtNFs0l4ZY_lANoRrJvIDUOamVzcQGHTEeCkPhVdGrLmOdDai5kGiCJ88lh44IzAXTyf4Zyubh5kuPUiJLt2P0lUaHOaEIBGIDPdwMi0UstB_9VAYeLO7ezUnJDSUhlx2Mq0FdyRfQ65MfmBwwrPGokPtwcsa4SnBx1di79GGD0l9oGhZidCSz6YTi8qIIkig2Xv08EHfC0oJOy8s3Inse2DensNPc7jdgCVqgQ1P7eYQWX0Jt9gQgcQHy-mEx_8GPe2_Ih3WKIS4ZI1Cu3hDJ4UtrATFuLjHJUQwckFYOMTwQt5aZyydKdogvemIcNoEHEgfbFzCjSVl8mZxI4potjeQMQ9KH2KJDkFuEfUyITGdOGM9HPC0oPNAoDC4NQrlwIsMVnOgCN3MITeqrTVcL-GDhj9bilDX5qSHpNHfE1o_4d7P4c2iEQX80jCAt2TJPJoVnrN_C9PBG1MaeZYJ9EUUSA6xIGjTyYvjNHwh3keRex7W6TDEiA4fJzXXxSObsWahIcnbWWt1gn4vLc7BNaKGVwQQW9rlz2aYnEQppO7N3qQJOw5YMQckbuyehvVXQeiE1ecc5S4sSWpDetirE4ijOA0p6bEVkpNDEhNKAWOVIZ1mtjqQdoDkxRl_DBA9xyyppcQiI5ZZjwTpGpKmG_kkof7QxOCyBzZCMvJsmmDYyP3b5Oh-0s7wR_fehwMTQy0-gvOillrM4XmQea7H_Pk2lhsLY7NOvuXG2rYhOTDe3qAYCrTxmNge4PGWsmrgNCYGU2M4xaw_3t_MgSRnIYVHdQqsBU-p_KuM8SEqeUzuwbN-MHTonHkWTpohnol0lUBx4p7T7NgzHOqhrLmmHSJrJaXgu--2fO_mo3xF9ZlmvRK-6kEjR4QJKPTDZOmdmGVSBZQGHlZJ3XGNem2I-UW0v_0atHeM2hDRDsFvaL1IqZxdppOA8Yq909kTFMsXzXn-vzEnTZW1JyavUY4elojhFXeUex9URcwJtfBopVDd_t6Z1vrq8xvk5oA5GNegsGk1LvHD5r_7is1_bjcci-OiT7U4LBxiHPU7JpOsEc5jMfzwfOYUo9sLuilMEsq-VOjFOu9LAcZQ7kN9w1rh_5liIwwQEFjCLzqKnfiP1bSTimRVR5gUeJs-KebGhFQ3yMwX4O2_H-Q_QtFpFIfTYm8lFoujVMWiJEXifm-szPHl6vp6XjUvV-urPwK468-BO84guSHB5ZGp57VRzhCI6KggIpbjEmVYwp8X7alRRd9balbNic684YFGWA_HCm3g4yQAYBcaZoHRuAfmYLOGf7BWCfl2L6xxFaemcOlyoTBe50ocU73wHDKhhRYOmrZuDkMZsV5H-ZMqAdf3VphHNyHpuS8K9jOB3upH36c9lWRpIaxGCyVmo7YF9S1ubt_eXGppzMadQGrMdR0-JYvo3NXjbadZLQ4Iro14V8R6-FHkXp1guwrH5-GxHUA960L10vlNPk8TrK4SvrEDGnJcp0oHRe6g4nf8jlJ9R5BuhvKH7geyaqRF-BnXxEGakev5MmRbHuSeFl-GBhhdjZp4NJB6aPQpRSBfcfdj_DoJq-FIlZbhHhvPFBUybTmeZBoe6Ttepo-8-HaMkRjJMX6BopvEjAjzMBMKPkosY5RwHtYhGOj5o9HAtj1CHQGolnLGJSbqn16OgGD9BZ0xDnTqw19s3fH3DxvBfTN39nMXyb7CU9ReBbpGHHUSqcO2SSRwFlWjbhcvNe4Hx5ZmaEMO2IYpJmW_4QeX3-yOZUz23NjhEjSjTnvXiqD5PrPXhMZg4n693s0UBg_UDh011jYD2XNZDVwSMbNfIo9xoRyk4fu3r-fwYLQxHniriflKzOB3Kpherv9Ik9NL_Vho7D0C8eP55D_eYAiJjQ1V8dZTPyq0TkYtRu6wJytTJAx2IvwI_WRO2vdZIpi9jbBGxls50nJd2mDy5wchDXSlVbDDQeykEdJrXUQj41N4et5W40kbLJ6lAoOIMcbyqFkUFqIZI96hvc-x1e-VpUV4zmSTzj79JsalGTNPqIq59XtJEX5GGdwGpfv-7euunTSSvyG_9bZ2x-1p3DLnrwxRP9j5-Hj2W4r-uOSGASYR3sxwkJjPrhSAXZwFTqdIqUFKfYfTMNlFr9LPUfFntyX8K-VjJQ8Iq-urqznnaI1YAO3i77DjZuXJtKG82A66o9fExtSko5_jSkH_jxWKrtM4iMgfjPZSt1GNQau9VPCrUX4vNdzRYPD8NuXu1eBHQB-ez3ZkqWCfGBfEYSn6s8ajizDSHVj6nYY-IdLv8UwCsyAZHC1jrdhqEA60sbVQS_iRunqc4wqjcQ4lhZ5q80Pq8xJ9Ql6JuoHvn_0bEnqaieUdAA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youtu.be/NZBmu9hEZY0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87050" y="0"/>
            <a:ext cx="5112300" cy="73152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n" sz="2000">
                <a:solidFill>
                  <a:srgbClr val="FFFFFF"/>
                </a:solidFill>
                <a:latin typeface="Roboto Mono Medium"/>
                <a:ea typeface="Roboto Mono Medium"/>
                <a:cs typeface="Roboto Mono Medium"/>
                <a:sym typeface="Roboto Mono Medium"/>
              </a:rPr>
              <a:t>100% IST Instructions</a:t>
            </a:r>
            <a:endParaRPr sz="2000">
              <a:solidFill>
                <a:srgbClr val="FFFFFF"/>
              </a:solidFill>
              <a:latin typeface="Roboto Mono Medium"/>
              <a:ea typeface="Roboto Mono Medium"/>
              <a:cs typeface="Roboto Mono Medium"/>
              <a:sym typeface="Roboto Mono Medium"/>
            </a:endParaRPr>
          </a:p>
          <a:p>
            <a:pPr indent="0" lvl="0" marL="0" rtl="0" algn="ctr">
              <a:lnSpc>
                <a:spcPct val="115000"/>
              </a:lnSpc>
              <a:spcBef>
                <a:spcPts val="0"/>
              </a:spcBef>
              <a:spcAft>
                <a:spcPts val="0"/>
              </a:spcAft>
              <a:buNone/>
            </a:pPr>
            <a:r>
              <a:rPr lang="en" sz="2000">
                <a:solidFill>
                  <a:srgbClr val="FFFFFF"/>
                </a:solidFill>
                <a:latin typeface="Roboto Mono Medium"/>
                <a:ea typeface="Roboto Mono Medium"/>
                <a:cs typeface="Roboto Mono Medium"/>
                <a:sym typeface="Roboto Mono Medium"/>
              </a:rPr>
              <a:t>(OmeGEB route)</a:t>
            </a:r>
            <a:endParaRPr sz="20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t/>
            </a:r>
            <a:endParaRPr sz="15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rPr lang="en" sz="1500">
                <a:solidFill>
                  <a:srgbClr val="FFFFFF"/>
                </a:solidFill>
                <a:latin typeface="Roboto Mono Medium"/>
                <a:ea typeface="Roboto Mono Medium"/>
                <a:cs typeface="Roboto Mono Medium"/>
                <a:sym typeface="Roboto Mono Medium"/>
              </a:rPr>
              <a:t># Overview</a:t>
            </a:r>
            <a:endParaRPr sz="15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rPr lang="en" sz="1200">
                <a:solidFill>
                  <a:srgbClr val="FFFFFF"/>
                </a:solidFill>
                <a:latin typeface="Roboto Mono Medium"/>
                <a:ea typeface="Roboto Mono Medium"/>
                <a:cs typeface="Roboto Mono Medium"/>
                <a:sym typeface="Roboto Mono Medium"/>
              </a:rPr>
              <a:t>These are just the instructions for IST. See the celer route for prep steps and for the later WMC instructions.</a:t>
            </a:r>
            <a:endParaRPr sz="12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t/>
            </a:r>
            <a:endParaRPr sz="12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rPr lang="en" sz="1200">
                <a:solidFill>
                  <a:srgbClr val="FFFFFF"/>
                </a:solidFill>
                <a:latin typeface="Roboto Mono Medium"/>
                <a:ea typeface="Roboto Mono Medium"/>
                <a:cs typeface="Roboto Mono Medium"/>
                <a:sym typeface="Roboto Mono Medium"/>
              </a:rPr>
              <a:t>You may also </a:t>
            </a:r>
            <a:r>
              <a:rPr lang="en" sz="1200" u="sng">
                <a:solidFill>
                  <a:schemeClr val="hlink"/>
                </a:solidFill>
                <a:latin typeface="Roboto Mono Medium"/>
                <a:ea typeface="Roboto Mono Medium"/>
                <a:cs typeface="Roboto Mono Medium"/>
                <a:sym typeface="Roboto Mono Medium"/>
                <a:hlinkClick r:id="rId3"/>
              </a:rPr>
              <a:t>view these steps in the simulator</a:t>
            </a:r>
            <a:r>
              <a:rPr lang="en" sz="1200">
                <a:solidFill>
                  <a:srgbClr val="FFFFFF"/>
                </a:solidFill>
                <a:latin typeface="Roboto Mono Medium"/>
                <a:ea typeface="Roboto Mono Medium"/>
                <a:cs typeface="Roboto Mono Medium"/>
                <a:sym typeface="Roboto Mono Medium"/>
              </a:rPr>
              <a:t>.</a:t>
            </a:r>
            <a:endParaRPr sz="13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t/>
            </a:r>
            <a:endParaRPr sz="13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rPr lang="en" sz="1300">
                <a:solidFill>
                  <a:srgbClr val="FFFFFF"/>
                </a:solidFill>
                <a:latin typeface="Roboto Mono Medium"/>
                <a:ea typeface="Roboto Mono Medium"/>
                <a:cs typeface="Roboto Mono Medium"/>
                <a:sym typeface="Roboto Mono Medium"/>
              </a:rPr>
              <a:t>This setup does the following:</a:t>
            </a:r>
            <a:endParaRPr sz="13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rPr lang="en" sz="1300">
                <a:solidFill>
                  <a:srgbClr val="FFFFFF"/>
                </a:solidFill>
                <a:latin typeface="Roboto Mono Medium"/>
                <a:ea typeface="Roboto Mono Medium"/>
                <a:cs typeface="Roboto Mono Medium"/>
                <a:sym typeface="Roboto Mono Medium"/>
              </a:rPr>
              <a:t>* Drop korok seeds</a:t>
            </a:r>
            <a:endParaRPr sz="13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rPr lang="en" sz="1300">
                <a:solidFill>
                  <a:srgbClr val="FFFFFF"/>
                </a:solidFill>
                <a:latin typeface="Roboto Mono Medium"/>
                <a:ea typeface="Roboto Mono Medium"/>
                <a:cs typeface="Roboto Mono Medium"/>
                <a:sym typeface="Roboto Mono Medium"/>
              </a:rPr>
              <a:t>* Dupe and corrupt (get 999 of) most materials necessary for quests and upgrades</a:t>
            </a:r>
            <a:endParaRPr sz="13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rPr lang="en" sz="1300">
                <a:solidFill>
                  <a:srgbClr val="FFFFFF"/>
                </a:solidFill>
                <a:latin typeface="Roboto Mono Medium"/>
                <a:ea typeface="Roboto Mono Medium"/>
                <a:cs typeface="Roboto Mono Medium"/>
                <a:sym typeface="Roboto Mono Medium"/>
              </a:rPr>
              <a:t>* Dupe many stamina meals</a:t>
            </a:r>
            <a:endParaRPr sz="13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rPr lang="en" sz="1300">
                <a:solidFill>
                  <a:srgbClr val="FFFFFF"/>
                </a:solidFill>
                <a:latin typeface="Roboto Mono Medium"/>
                <a:ea typeface="Roboto Mono Medium"/>
                <a:cs typeface="Roboto Mono Medium"/>
                <a:sym typeface="Roboto Mono Medium"/>
              </a:rPr>
              <a:t>* Corrupt five types of arrows: normal, fire, ice, bomb, and ancient</a:t>
            </a:r>
            <a:endParaRPr sz="1300">
              <a:solidFill>
                <a:srgbClr val="FFFFFF"/>
              </a:solidFill>
              <a:latin typeface="Roboto Mono Medium"/>
              <a:ea typeface="Roboto Mono Medium"/>
              <a:cs typeface="Roboto Mono Medium"/>
              <a:sym typeface="Roboto Mono Medium"/>
            </a:endParaRPr>
          </a:p>
          <a:p>
            <a:pPr indent="0" lvl="0" marL="0" rtl="0" algn="l">
              <a:lnSpc>
                <a:spcPct val="115000"/>
              </a:lnSpc>
              <a:spcBef>
                <a:spcPts val="0"/>
              </a:spcBef>
              <a:spcAft>
                <a:spcPts val="0"/>
              </a:spcAft>
              <a:buNone/>
            </a:pPr>
            <a:r>
              <a:t/>
            </a:r>
            <a:endParaRPr sz="1300">
              <a:solidFill>
                <a:srgbClr val="FFFFFF"/>
              </a:solidFill>
              <a:latin typeface="Roboto Mono Medium"/>
              <a:ea typeface="Roboto Mono Medium"/>
              <a:cs typeface="Roboto Mono Medium"/>
              <a:sym typeface="Roboto Mon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solidFill>
                  <a:schemeClr val="dk1"/>
                </a:solidFill>
                <a:latin typeface="Roboto Mono Medium"/>
                <a:ea typeface="Roboto Mono Medium"/>
                <a:cs typeface="Roboto Mono Medium"/>
                <a:sym typeface="Roboto Mono Medium"/>
              </a:rPr>
              <a:t>100% IST Instructions</a:t>
            </a:r>
            <a:endParaRPr sz="20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5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500">
                <a:solidFill>
                  <a:schemeClr val="dk1"/>
                </a:solidFill>
                <a:latin typeface="Roboto Mono Medium"/>
                <a:ea typeface="Roboto Mono Medium"/>
                <a:cs typeface="Roboto Mono Medium"/>
                <a:sym typeface="Roboto Mono Medium"/>
              </a:rPr>
              <a:t># Autosaves</a:t>
            </a:r>
            <a:endParaRPr sz="15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300">
                <a:solidFill>
                  <a:schemeClr val="dk1"/>
                </a:solidFill>
                <a:latin typeface="Roboto Mono Medium"/>
                <a:ea typeface="Roboto Mono Medium"/>
                <a:cs typeface="Roboto Mono Medium"/>
                <a:sym typeface="Roboto Mono Medium"/>
              </a:rPr>
              <a:t>Two plateau autosaves must be protected by system clock manipulation:</a:t>
            </a:r>
            <a:endParaRPr sz="1300">
              <a:solidFill>
                <a:schemeClr val="dk1"/>
              </a:solidFill>
              <a:latin typeface="Roboto Mono Medium"/>
              <a:ea typeface="Roboto Mono Medium"/>
              <a:cs typeface="Roboto Mono Medium"/>
              <a:sym typeface="Roboto Mono Medium"/>
            </a:endParaRPr>
          </a:p>
          <a:p>
            <a:pPr indent="-311150" lvl="0" marL="457200" rtl="0" algn="l">
              <a:spcBef>
                <a:spcPts val="0"/>
              </a:spcBef>
              <a:spcAft>
                <a:spcPts val="0"/>
              </a:spcAft>
              <a:buClr>
                <a:schemeClr val="dk1"/>
              </a:buClr>
              <a:buSzPts val="1300"/>
              <a:buFont typeface="Roboto Mono Medium"/>
              <a:buAutoNum type="arabicPeriod"/>
            </a:pPr>
            <a:r>
              <a:rPr lang="en" sz="1300">
                <a:solidFill>
                  <a:schemeClr val="dk1"/>
                </a:solidFill>
                <a:latin typeface="Roboto Mono Medium"/>
                <a:ea typeface="Roboto Mono Medium"/>
                <a:cs typeface="Roboto Mono Medium"/>
                <a:sym typeface="Roboto Mono Medium"/>
              </a:rPr>
              <a:t>In SoR right after the beginning of the game.</a:t>
            </a:r>
            <a:endParaRPr sz="1300">
              <a:solidFill>
                <a:schemeClr val="dk1"/>
              </a:solidFill>
              <a:latin typeface="Roboto Mono Medium"/>
              <a:ea typeface="Roboto Mono Medium"/>
              <a:cs typeface="Roboto Mono Medium"/>
              <a:sym typeface="Roboto Mono Medium"/>
            </a:endParaRPr>
          </a:p>
          <a:p>
            <a:pPr indent="-311150" lvl="0" marL="457200" rtl="0" algn="l">
              <a:spcBef>
                <a:spcPts val="0"/>
              </a:spcBef>
              <a:spcAft>
                <a:spcPts val="0"/>
              </a:spcAft>
              <a:buClr>
                <a:schemeClr val="dk1"/>
              </a:buClr>
              <a:buSzPts val="1300"/>
              <a:buFont typeface="Roboto Mono Medium"/>
              <a:buAutoNum type="arabicPeriod"/>
            </a:pPr>
            <a:r>
              <a:rPr lang="en" sz="1300">
                <a:solidFill>
                  <a:schemeClr val="dk1"/>
                </a:solidFill>
                <a:latin typeface="Roboto Mono Medium"/>
                <a:ea typeface="Roboto Mono Medium"/>
                <a:cs typeface="Roboto Mono Medium"/>
                <a:sym typeface="Roboto Mono Medium"/>
              </a:rPr>
              <a:t>Running to the boko camp after getting the axe.</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5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5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500">
                <a:solidFill>
                  <a:schemeClr val="dk1"/>
                </a:solidFill>
                <a:latin typeface="Roboto Mono Medium"/>
                <a:ea typeface="Roboto Mono Medium"/>
                <a:cs typeface="Roboto Mono Medium"/>
                <a:sym typeface="Roboto Mono Medium"/>
              </a:rPr>
              <a:t># Breaking Slots (Arrowless)</a:t>
            </a:r>
            <a:endParaRPr sz="15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300">
                <a:solidFill>
                  <a:schemeClr val="dk1"/>
                </a:solidFill>
                <a:latin typeface="Roboto Mono Medium"/>
                <a:ea typeface="Roboto Mono Medium"/>
                <a:cs typeface="Roboto Mono Medium"/>
                <a:sym typeface="Roboto Mono Medium"/>
              </a:rPr>
              <a:t>See Player5's IST tutorial for how to break slots without menu overloading.</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300" u="sng">
                <a:solidFill>
                  <a:schemeClr val="hlink"/>
                </a:solidFill>
                <a:latin typeface="Roboto Mono Medium"/>
                <a:ea typeface="Roboto Mono Medium"/>
                <a:cs typeface="Roboto Mono Medium"/>
                <a:sym typeface="Roboto Mono Medium"/>
                <a:hlinkClick r:id="rId3"/>
              </a:rPr>
              <a:t>https://youtu.be/NZBmu9hEZY0f</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5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5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500">
                <a:solidFill>
                  <a:schemeClr val="dk1"/>
                </a:solidFill>
                <a:latin typeface="Roboto Mono Medium"/>
                <a:ea typeface="Roboto Mono Medium"/>
                <a:cs typeface="Roboto Mono Medium"/>
                <a:sym typeface="Roboto Mono Medium"/>
              </a:rPr>
              <a:t># Corruption Reminder</a:t>
            </a:r>
            <a:endParaRPr sz="15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300">
                <a:solidFill>
                  <a:schemeClr val="dk1"/>
                </a:solidFill>
                <a:latin typeface="Roboto Mono Medium"/>
                <a:ea typeface="Roboto Mono Medium"/>
                <a:cs typeface="Roboto Mono Medium"/>
                <a:sym typeface="Roboto Mono Medium"/>
              </a:rPr>
              <a:t>In corruption steps, if there's a save after a reload, </a:t>
            </a:r>
            <a:r>
              <a:rPr lang="en" sz="1300" u="sng">
                <a:solidFill>
                  <a:schemeClr val="dk1"/>
                </a:solidFill>
                <a:latin typeface="Roboto Mono Medium"/>
                <a:ea typeface="Roboto Mono Medium"/>
                <a:cs typeface="Roboto Mono Medium"/>
                <a:sym typeface="Roboto Mono Medium"/>
              </a:rPr>
              <a:t>do not</a:t>
            </a:r>
            <a:r>
              <a:rPr lang="en" sz="1300">
                <a:solidFill>
                  <a:schemeClr val="dk1"/>
                </a:solidFill>
                <a:latin typeface="Roboto Mono Medium"/>
                <a:ea typeface="Roboto Mono Medium"/>
                <a:cs typeface="Roboto Mono Medium"/>
                <a:sym typeface="Roboto Mono Medium"/>
              </a:rPr>
              <a:t> do anything else in between those steps. This includes unpausing or using the quick menu.</a:t>
            </a:r>
            <a:endParaRPr sz="1300">
              <a:solidFill>
                <a:schemeClr val="dk1"/>
              </a:solidFill>
              <a:latin typeface="Roboto Mono Medium"/>
              <a:ea typeface="Roboto Mono Medium"/>
              <a:cs typeface="Roboto Mono Medium"/>
              <a:sym typeface="Roboto Mono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solidFill>
                  <a:schemeClr val="dk1"/>
                </a:solidFill>
                <a:latin typeface="Roboto Mono Medium"/>
                <a:ea typeface="Roboto Mono Medium"/>
                <a:cs typeface="Roboto Mono Medium"/>
                <a:sym typeface="Roboto Mono Medium"/>
              </a:rPr>
              <a:t>100% IST Instructions</a:t>
            </a:r>
            <a:endParaRPr sz="20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5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500">
                <a:solidFill>
                  <a:schemeClr val="dk1"/>
                </a:solidFill>
                <a:latin typeface="Roboto Mono Medium"/>
                <a:ea typeface="Roboto Mono Medium"/>
                <a:cs typeface="Roboto Mono Medium"/>
                <a:sym typeface="Roboto Mono Medium"/>
              </a:rPr>
              <a:t># Starting Inventory</a:t>
            </a:r>
            <a:endParaRPr sz="15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300">
                <a:solidFill>
                  <a:schemeClr val="dk1"/>
                </a:solidFill>
                <a:latin typeface="Roboto Mono Medium"/>
                <a:ea typeface="Roboto Mono Medium"/>
                <a:cs typeface="Roboto Mono Medium"/>
                <a:sym typeface="Roboto Mono Medium"/>
              </a:rPr>
              <a:t>Here is an example of a starting materials inventory. Excess equipment, materials or food should be dropped or eaten. DO NOT get more types of arrows, more spirit orbs, koroks or other key items.</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3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1300">
                <a:solidFill>
                  <a:schemeClr val="dk1"/>
                </a:solidFill>
                <a:latin typeface="Roboto Mono Medium"/>
                <a:ea typeface="Roboto Mono Medium"/>
                <a:cs typeface="Roboto Mono Medium"/>
                <a:sym typeface="Roboto Mono Medium"/>
              </a:rPr>
              <a:t>As long as you acquire the items in the order listed on the route doc, everything should be in the right order. The order of scrap materials does not matter. It is okay to have extras of the scrap, but not of most other materials. The order you pick up the lizalfos parts and guardian parts also doesn’t matter. Scrap can be anything, so for example if you have to eat your 3 durians, you can just grab 3 apples near Impa’s house to replace them.</a:t>
            </a:r>
            <a:endParaRPr sz="1300">
              <a:solidFill>
                <a:schemeClr val="dk1"/>
              </a:solidFill>
              <a:latin typeface="Roboto Mono Medium"/>
              <a:ea typeface="Roboto Mono Medium"/>
              <a:cs typeface="Roboto Mono Medium"/>
              <a:sym typeface="Roboto Mono Medium"/>
            </a:endParaRPr>
          </a:p>
        </p:txBody>
      </p:sp>
      <p:pic>
        <p:nvPicPr>
          <p:cNvPr id="65" name="Google Shape;65;p15"/>
          <p:cNvPicPr preferRelativeResize="0"/>
          <p:nvPr/>
        </p:nvPicPr>
        <p:blipFill>
          <a:blip r:embed="rId3">
            <a:alphaModFix/>
          </a:blip>
          <a:stretch>
            <a:fillRect/>
          </a:stretch>
        </p:blipFill>
        <p:spPr>
          <a:xfrm>
            <a:off x="187025" y="2434100"/>
            <a:ext cx="2459451" cy="1958600"/>
          </a:xfrm>
          <a:prstGeom prst="rect">
            <a:avLst/>
          </a:prstGeom>
          <a:noFill/>
          <a:ln>
            <a:noFill/>
          </a:ln>
        </p:spPr>
      </p:pic>
      <p:pic>
        <p:nvPicPr>
          <p:cNvPr id="66" name="Google Shape;66;p15"/>
          <p:cNvPicPr preferRelativeResize="0"/>
          <p:nvPr/>
        </p:nvPicPr>
        <p:blipFill>
          <a:blip r:embed="rId4">
            <a:alphaModFix/>
          </a:blip>
          <a:stretch>
            <a:fillRect/>
          </a:stretch>
        </p:blipFill>
        <p:spPr>
          <a:xfrm>
            <a:off x="2743225" y="2434100"/>
            <a:ext cx="2459451" cy="1958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idx="1" type="body"/>
          </p:nvPr>
        </p:nvSpPr>
        <p:spPr>
          <a:xfrm>
            <a:off x="187025" y="0"/>
            <a:ext cx="52995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Break Slots (12)</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Break 4 Slots</a:t>
            </a:r>
            <a:endParaRPr sz="14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sz="1400">
                <a:solidFill>
                  <a:srgbClr val="FFE599"/>
                </a:solidFill>
                <a:latin typeface="Roboto Mono"/>
                <a:ea typeface="Roboto Mono"/>
                <a:cs typeface="Roboto Mono"/>
                <a:sym typeface="Roboto Mono"/>
              </a:rPr>
              <a:t>* Zapshroom, Razorshroom, Wood, Nightshade </a:t>
            </a:r>
            <a:endParaRPr sz="1400">
              <a:solidFill>
                <a:srgbClr val="FFE599"/>
              </a:solidFill>
              <a:latin typeface="Roboto Mono"/>
              <a:ea typeface="Roboto Mono"/>
              <a:cs typeface="Roboto Mono"/>
              <a:sym typeface="Roboto Mono"/>
            </a:endParaRPr>
          </a:p>
          <a:p>
            <a:pPr indent="0" lvl="0" marL="0" rtl="0" algn="l">
              <a:spcBef>
                <a:spcPts val="0"/>
              </a:spcBef>
              <a:spcAft>
                <a:spcPts val="0"/>
              </a:spcAft>
              <a:buNone/>
            </a:pPr>
            <a:r>
              <a:rPr lang="en" sz="1400">
                <a:solidFill>
                  <a:srgbClr val="FFE599"/>
                </a:solidFill>
                <a:latin typeface="Roboto Mono"/>
                <a:ea typeface="Roboto Mono"/>
                <a:cs typeface="Roboto Mono"/>
                <a:sym typeface="Roboto Mono"/>
              </a:rPr>
              <a:t>	* Spring check item</a:t>
            </a:r>
            <a:endParaRPr sz="1400">
              <a:solidFill>
                <a:srgbClr val="FFE599"/>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 Pick up IN THIS ORDER:</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Nightshade, Spring, Wood, Zapshroom,</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Razorshroom </a:t>
            </a:r>
            <a:r>
              <a:rPr lang="en" sz="1400" u="sng">
                <a:solidFill>
                  <a:schemeClr val="dk1"/>
                </a:solidFill>
                <a:latin typeface="Roboto Mono"/>
                <a:ea typeface="Roboto Mono"/>
                <a:cs typeface="Roboto Mono"/>
                <a:sym typeface="Roboto Mono"/>
              </a:rPr>
              <a:t>(eat Razorshroom)</a:t>
            </a:r>
            <a:endParaRPr sz="1400" u="sng">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Drop 1 each of: </a:t>
            </a:r>
            <a:endParaRPr sz="1400">
              <a:solidFill>
                <a:schemeClr val="dk1"/>
              </a:solidFill>
              <a:latin typeface="Roboto Mono"/>
              <a:ea typeface="Roboto Mono"/>
              <a:cs typeface="Roboto Mono"/>
              <a:sym typeface="Roboto Mono"/>
            </a:endParaRPr>
          </a:p>
          <a:p>
            <a:pPr indent="0" lvl="0" marL="457200" rtl="0" algn="l">
              <a:spcBef>
                <a:spcPts val="0"/>
              </a:spcBef>
              <a:spcAft>
                <a:spcPts val="0"/>
              </a:spcAft>
              <a:buNone/>
            </a:pPr>
            <a:r>
              <a:rPr lang="en" sz="1400">
                <a:solidFill>
                  <a:schemeClr val="dk1"/>
                </a:solidFill>
                <a:latin typeface="Roboto Mono"/>
                <a:ea typeface="Roboto Mono"/>
                <a:cs typeface="Roboto Mono"/>
                <a:sym typeface="Roboto Mono"/>
              </a:rPr>
              <a:t>Pepper, Shroom, Sunshroom, Durian</a:t>
            </a:r>
            <a:endParaRPr sz="1400">
              <a:solidFill>
                <a:schemeClr val="dk1"/>
              </a:solidFill>
              <a:latin typeface="Roboto Mono"/>
              <a:ea typeface="Roboto Mono"/>
              <a:cs typeface="Roboto Mono"/>
              <a:sym typeface="Roboto Mono"/>
            </a:endParaRPr>
          </a:p>
          <a:p>
            <a:pPr indent="0" lvl="0" marL="45720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Break 4 Slots</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rgbClr val="FFE599"/>
                </a:solidFill>
                <a:latin typeface="Roboto Mono"/>
                <a:ea typeface="Roboto Mono"/>
                <a:cs typeface="Roboto Mono"/>
                <a:sym typeface="Roboto Mono"/>
              </a:rPr>
              <a:t>	* Pepper, Shroom, Sunshroom, Durian</a:t>
            </a:r>
            <a:endParaRPr sz="1400">
              <a:solidFill>
                <a:srgbClr val="FFE599"/>
              </a:solidFill>
              <a:latin typeface="Roboto Mono"/>
              <a:ea typeface="Roboto Mono"/>
              <a:cs typeface="Roboto Mono"/>
              <a:sym typeface="Roboto Mono"/>
            </a:endParaRPr>
          </a:p>
          <a:p>
            <a:pPr indent="0" lvl="0" marL="0" rtl="0" algn="l">
              <a:spcBef>
                <a:spcPts val="0"/>
              </a:spcBef>
              <a:spcAft>
                <a:spcPts val="0"/>
              </a:spcAft>
              <a:buNone/>
            </a:pPr>
            <a:r>
              <a:rPr lang="en" sz="1400">
                <a:solidFill>
                  <a:srgbClr val="FFE599"/>
                </a:solidFill>
                <a:latin typeface="Roboto Mono"/>
                <a:ea typeface="Roboto Mono"/>
                <a:cs typeface="Roboto Mono"/>
                <a:sym typeface="Roboto Mono"/>
              </a:rPr>
              <a:t>	* Honey check item</a:t>
            </a:r>
            <a:endParaRPr sz="1400">
              <a:solidFill>
                <a:srgbClr val="FFE599"/>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Pick up both piles of materials</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Break 4 Slots</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rgbClr val="FFE599"/>
                </a:solidFill>
                <a:latin typeface="Roboto Mono"/>
                <a:ea typeface="Roboto Mono"/>
                <a:cs typeface="Roboto Mono"/>
                <a:sym typeface="Roboto Mono"/>
              </a:rPr>
              <a:t>	* Pepper, Shroom, Sunshroom, Durian</a:t>
            </a:r>
            <a:endParaRPr sz="1400">
              <a:solidFill>
                <a:srgbClr val="FFE599"/>
              </a:solidFill>
              <a:latin typeface="Roboto Mono"/>
              <a:ea typeface="Roboto Mono"/>
              <a:cs typeface="Roboto Mono"/>
              <a:sym typeface="Roboto Mono"/>
            </a:endParaRPr>
          </a:p>
          <a:p>
            <a:pPr indent="0" lvl="0" marL="0" rtl="0" algn="l">
              <a:spcBef>
                <a:spcPts val="0"/>
              </a:spcBef>
              <a:spcAft>
                <a:spcPts val="0"/>
              </a:spcAft>
              <a:buNone/>
            </a:pPr>
            <a:r>
              <a:rPr lang="en" sz="1400">
                <a:solidFill>
                  <a:srgbClr val="FFE599"/>
                </a:solidFill>
                <a:latin typeface="Roboto Mono"/>
                <a:ea typeface="Roboto Mono"/>
                <a:cs typeface="Roboto Mono"/>
                <a:sym typeface="Roboto Mono"/>
              </a:rPr>
              <a:t>	* Zapshroom check item</a:t>
            </a:r>
            <a:endParaRPr sz="1400">
              <a:solidFill>
                <a:srgbClr val="FFE599"/>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Leave the shop without picking up items</a:t>
            </a:r>
            <a:endParaRPr sz="1400">
              <a:solidFill>
                <a:schemeClr val="dk1"/>
              </a:solidFill>
              <a:latin typeface="Roboto Mono"/>
              <a:ea typeface="Roboto Mono"/>
              <a:cs typeface="Roboto Mono"/>
              <a:sym typeface="Roboto Mono"/>
            </a:endParaRPr>
          </a:p>
          <a:p>
            <a:pPr indent="0" lvl="0" marL="45720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rgbClr val="FF00FF"/>
              </a:solidFill>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Dupe 1</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600">
                <a:solidFill>
                  <a:schemeClr val="dk1"/>
                </a:solidFill>
                <a:latin typeface="Roboto Mono"/>
                <a:ea typeface="Roboto Mono"/>
                <a:cs typeface="Roboto Mono"/>
                <a:sym typeface="Roboto Mono"/>
              </a:rPr>
              <a:t>Drop/Pickup:</a:t>
            </a:r>
            <a:endParaRPr sz="17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Rushroom + all Screws + Carrot</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4 HyruleBass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2 Lotus Seeds + both Fangs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2 Talon + Horn + Shaft</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00FF"/>
                </a:solidFill>
                <a:latin typeface="Roboto Mono"/>
                <a:ea typeface="Roboto Mono"/>
                <a:cs typeface="Roboto Mono"/>
                <a:sym typeface="Roboto Mono"/>
              </a:rPr>
              <a:t>LOAD Shrine of Resurrection</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Shrine of Resurrection</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FF00"/>
                </a:solidFill>
                <a:latin typeface="Roboto Mono"/>
                <a:ea typeface="Roboto Mono"/>
                <a:cs typeface="Roboto Mono"/>
                <a:sym typeface="Roboto Mono"/>
              </a:rPr>
              <a:t>	Get Invalid Star Tab</a:t>
            </a:r>
            <a:endParaRPr sz="1500">
              <a:solidFill>
                <a:srgbClr val="FFFF00"/>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a:t>
            </a:r>
            <a:r>
              <a:rPr lang="en" sz="1500">
                <a:solidFill>
                  <a:srgbClr val="FF00FF"/>
                </a:solidFill>
                <a:latin typeface="Roboto Mono"/>
                <a:ea typeface="Roboto Mono"/>
                <a:cs typeface="Roboto Mono"/>
                <a:sym typeface="Roboto Mono"/>
              </a:rPr>
              <a:t>LOAD</a:t>
            </a:r>
            <a:r>
              <a:rPr lang="en" sz="1500">
                <a:solidFill>
                  <a:schemeClr val="dk1"/>
                </a:solidFill>
                <a:latin typeface="Roboto Mono"/>
                <a:ea typeface="Roboto Mono"/>
                <a:cs typeface="Roboto Mono"/>
                <a:sym typeface="Roboto Mono"/>
              </a:rPr>
              <a:t> </a:t>
            </a:r>
            <a:r>
              <a:rPr lang="en" sz="1500">
                <a:solidFill>
                  <a:srgbClr val="FF00FF"/>
                </a:solidFill>
                <a:latin typeface="Roboto Mono"/>
                <a:ea typeface="Roboto Mono"/>
                <a:cs typeface="Roboto Mono"/>
                <a:sym typeface="Roboto Mono"/>
              </a:rPr>
              <a:t>Hard Save</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idx="1" type="body"/>
          </p:nvPr>
        </p:nvSpPr>
        <p:spPr>
          <a:xfrm>
            <a:off x="187025" y="0"/>
            <a:ext cx="5112300" cy="7315200"/>
          </a:xfrm>
          <a:prstGeom prst="rect">
            <a:avLst/>
          </a:prstGeom>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Dupe 2</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Sort Key Items</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Drop both slots of 5 Korok Seeds:</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Cursor on materials page 2 row 2 col 5</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(wait a second)</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317500" lvl="0" marL="457200" rtl="0" algn="l">
              <a:spcBef>
                <a:spcPts val="0"/>
              </a:spcBef>
              <a:spcAft>
                <a:spcPts val="0"/>
              </a:spcAft>
              <a:buClr>
                <a:schemeClr val="dk1"/>
              </a:buClr>
              <a:buSzPts val="1400"/>
              <a:buFont typeface="Roboto Mono"/>
              <a:buChar char="+"/>
            </a:pPr>
            <a:r>
              <a:t/>
            </a:r>
            <a:endParaRPr sz="1400">
              <a:solidFill>
                <a:schemeClr val="dk1"/>
              </a:solidFill>
              <a:latin typeface="Roboto Mono"/>
              <a:ea typeface="Roboto Mono"/>
              <a:cs typeface="Roboto Mono"/>
              <a:sym typeface="Roboto Mono"/>
            </a:endParaRPr>
          </a:p>
          <a:p>
            <a:pPr indent="-317500" lvl="0" marL="457200" rtl="0" algn="l">
              <a:spcBef>
                <a:spcPts val="0"/>
              </a:spcBef>
              <a:spcAft>
                <a:spcPts val="0"/>
              </a:spcAft>
              <a:buClr>
                <a:schemeClr val="dk1"/>
              </a:buClr>
              <a:buSzPts val="1400"/>
              <a:buFont typeface="Roboto Mono"/>
              <a:buChar char="+"/>
            </a:pPr>
            <a:r>
              <a:rPr lang="en" sz="1400">
                <a:solidFill>
                  <a:schemeClr val="dk1"/>
                </a:solidFill>
                <a:latin typeface="Roboto Mono"/>
                <a:ea typeface="Roboto Mono"/>
                <a:cs typeface="Roboto Mono"/>
                <a:sym typeface="Roboto Mono"/>
              </a:rPr>
              <a:t>repeat</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Drop/Pickup:</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4 Fish</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Horn + 2 Talon</a:t>
            </a:r>
            <a:endParaRPr sz="15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sz="1500">
                <a:solidFill>
                  <a:schemeClr val="dk1"/>
                </a:solidFill>
                <a:latin typeface="Roboto Mono"/>
                <a:ea typeface="Roboto Mono"/>
                <a:cs typeface="Roboto Mono"/>
                <a:sym typeface="Roboto Mono"/>
              </a:rPr>
              <a:t>* 2 Lotus + Shaft</a:t>
            </a:r>
            <a:endParaRPr sz="15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sz="1500">
                <a:solidFill>
                  <a:schemeClr val="dk1"/>
                </a:solidFill>
                <a:latin typeface="Roboto Mono"/>
                <a:ea typeface="Roboto Mono"/>
                <a:cs typeface="Roboto Mono"/>
                <a:sym typeface="Roboto Mono"/>
              </a:rPr>
              <a:t>* 4 Princess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BREAK 2 ADDITIONAL SLOTS</a:t>
            </a:r>
            <a:endParaRPr sz="1400">
              <a:solidFill>
                <a:schemeClr val="dk1"/>
              </a:solidFill>
              <a:latin typeface="Roboto Mono"/>
              <a:ea typeface="Roboto Mono"/>
              <a:cs typeface="Roboto Mono"/>
              <a:sym typeface="Roboto Mono"/>
            </a:endParaRPr>
          </a:p>
          <a:p>
            <a:pPr indent="0" lvl="0" marL="457200" rtl="0" algn="l">
              <a:spcBef>
                <a:spcPts val="0"/>
              </a:spcBef>
              <a:spcAft>
                <a:spcPts val="0"/>
              </a:spcAft>
              <a:buNone/>
            </a:pPr>
            <a:r>
              <a:rPr lang="en" sz="1400">
                <a:solidFill>
                  <a:schemeClr val="dk1"/>
                </a:solidFill>
                <a:latin typeface="Roboto Mono"/>
                <a:ea typeface="Roboto Mono"/>
                <a:cs typeface="Roboto Mono"/>
                <a:sym typeface="Roboto Mono"/>
              </a:rPr>
              <a:t>* Hold 2 fairies, stand in fire until a   fairy is used, spam A to drop and pick up fairies</a:t>
            </a:r>
            <a:endParaRPr sz="1400">
              <a:solidFill>
                <a:schemeClr val="dk1"/>
              </a:solidFill>
              <a:latin typeface="Roboto Mono"/>
              <a:ea typeface="Roboto Mono"/>
              <a:cs typeface="Roboto Mono"/>
              <a:sym typeface="Roboto Mono"/>
            </a:endParaRPr>
          </a:p>
          <a:p>
            <a:pPr indent="0" lvl="0" marL="457200" rtl="0" algn="l">
              <a:spcBef>
                <a:spcPts val="0"/>
              </a:spcBef>
              <a:spcAft>
                <a:spcPts val="0"/>
              </a:spcAft>
              <a:buNone/>
            </a:pPr>
            <a:r>
              <a:rPr lang="en" sz="1400">
                <a:solidFill>
                  <a:schemeClr val="dk1"/>
                </a:solidFill>
                <a:latin typeface="Roboto Mono"/>
                <a:ea typeface="Roboto Mono"/>
                <a:cs typeface="Roboto Mono"/>
                <a:sym typeface="Roboto Mono"/>
              </a:rPr>
              <a:t>* Hold 1 fairy, stand in fire until fairy is used, press A to drop fairy</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00FF"/>
                </a:solidFill>
                <a:latin typeface="Roboto Mono"/>
                <a:ea typeface="Roboto Mono"/>
                <a:cs typeface="Roboto Mono"/>
                <a:sym typeface="Roboto Mono"/>
              </a:rPr>
              <a:t>LOAD</a:t>
            </a:r>
            <a:r>
              <a:rPr lang="en" sz="1500">
                <a:solidFill>
                  <a:schemeClr val="dk1"/>
                </a:solidFill>
                <a:latin typeface="Roboto Mono"/>
                <a:ea typeface="Roboto Mono"/>
                <a:cs typeface="Roboto Mono"/>
                <a:sym typeface="Roboto Mono"/>
              </a:rPr>
              <a:t> </a:t>
            </a:r>
            <a:r>
              <a:rPr lang="en" sz="1500">
                <a:solidFill>
                  <a:srgbClr val="FF00FF"/>
                </a:solidFill>
                <a:latin typeface="Roboto Mono"/>
                <a:ea typeface="Roboto Mono"/>
                <a:cs typeface="Roboto Mono"/>
                <a:sym typeface="Roboto Mono"/>
              </a:rPr>
              <a:t>Hard Save</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p:txBody>
      </p:sp>
      <p:pic>
        <p:nvPicPr>
          <p:cNvPr id="82" name="Google Shape;82;p18"/>
          <p:cNvPicPr preferRelativeResize="0"/>
          <p:nvPr/>
        </p:nvPicPr>
        <p:blipFill rotWithShape="1">
          <a:blip r:embed="rId3">
            <a:alphaModFix/>
          </a:blip>
          <a:srcRect b="0" l="4000" r="-4000" t="0"/>
          <a:stretch/>
        </p:blipFill>
        <p:spPr>
          <a:xfrm>
            <a:off x="733725" y="1596600"/>
            <a:ext cx="1905000" cy="476250"/>
          </a:xfrm>
          <a:prstGeom prst="rect">
            <a:avLst/>
          </a:prstGeom>
          <a:noFill/>
          <a:ln>
            <a:noFill/>
          </a:ln>
        </p:spPr>
      </p:pic>
      <p:pic>
        <p:nvPicPr>
          <p:cNvPr id="83" name="Google Shape;83;p18"/>
          <p:cNvPicPr preferRelativeResize="0"/>
          <p:nvPr/>
        </p:nvPicPr>
        <p:blipFill>
          <a:blip r:embed="rId4">
            <a:alphaModFix/>
          </a:blip>
          <a:stretch>
            <a:fillRect/>
          </a:stretch>
        </p:blipFill>
        <p:spPr>
          <a:xfrm>
            <a:off x="733725" y="2148025"/>
            <a:ext cx="3333750" cy="476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Dupe 3</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Drop/Pickup:</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8 Fish + 2 Horn</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4 Princess + 4 Lotus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Fangs (in 4 slots) + 2 shaft</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4 Talon</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Dupe 4</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Drop/Pickup:</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8 Talon</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4 Horn + 4 Shaft</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8 Princess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Turn in all orbs at the statue: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10 stamina</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6 hearts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Drop PotLid and Sword if you have them (only boko club/claymore, FDB/Falcon, 4 arrow types, Hylian Shield)</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Equip</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	* Claymore (slot 2)</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	* Forest Dweller Bow (slot 1)</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	* Ice Arrows</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	* Hylian Shield</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00FF"/>
                </a:solidFill>
                <a:latin typeface="Roboto Mono"/>
                <a:ea typeface="Roboto Mono"/>
                <a:cs typeface="Roboto Mono"/>
                <a:sym typeface="Roboto Mono"/>
              </a:rPr>
              <a:t>LOAD Boko Camp Autosave</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1"/>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Corruption 1</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If a weapon is equipped on your Plateau save, be sure to unequip it EVERY time you load that save.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Plateau</a:t>
            </a:r>
            <a:endParaRPr sz="15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sz="1500">
                <a:solidFill>
                  <a:schemeClr val="dk1"/>
                </a:solidFill>
                <a:latin typeface="Roboto Mono"/>
                <a:ea typeface="Roboto Mono"/>
                <a:cs typeface="Roboto Mono"/>
                <a:sym typeface="Roboto Mono"/>
              </a:rPr>
              <a:t>Eat 3 Food</a:t>
            </a:r>
            <a:endParaRPr sz="1500">
              <a:solidFill>
                <a:schemeClr val="dk1"/>
              </a:solidFill>
              <a:latin typeface="Roboto Mono"/>
              <a:ea typeface="Roboto Mono"/>
              <a:cs typeface="Roboto Mono"/>
              <a:sym typeface="Roboto Mono"/>
            </a:endParaRPr>
          </a:p>
          <a:p>
            <a:pPr indent="0" lvl="0" marL="45720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Kakariko</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a:t>
            </a: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a:t>
            </a:r>
            <a:r>
              <a:rPr lang="en" sz="1500">
                <a:solidFill>
                  <a:srgbClr val="FF00FF"/>
                </a:solidFill>
                <a:latin typeface="Roboto Mono"/>
                <a:ea typeface="Roboto Mono"/>
                <a:cs typeface="Roboto Mono"/>
                <a:sym typeface="Roboto Mono"/>
              </a:rPr>
              <a:t>LOAD Hard Save</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Arrow Shop</a:t>
            </a:r>
            <a:endParaRPr sz="1500">
              <a:solidFill>
                <a:schemeClr val="dk1"/>
              </a:solidFill>
              <a:latin typeface="Roboto Mono"/>
              <a:ea typeface="Roboto Mono"/>
              <a:cs typeface="Roboto Mono"/>
              <a:sym typeface="Roboto Mono"/>
            </a:endParaRPr>
          </a:p>
          <a:p>
            <a:pPr indent="0" lvl="0" marL="457200" rtl="0" algn="l">
              <a:spcBef>
                <a:spcPts val="0"/>
              </a:spcBef>
              <a:spcAft>
                <a:spcPts val="0"/>
              </a:spcAft>
              <a:buNone/>
            </a:pPr>
            <a:r>
              <a:rPr lang="en" sz="1500">
                <a:solidFill>
                  <a:schemeClr val="dk1"/>
                </a:solidFill>
                <a:latin typeface="Roboto Mono"/>
                <a:ea typeface="Roboto Mono"/>
                <a:cs typeface="Roboto Mono"/>
                <a:sym typeface="Roboto Mono"/>
              </a:rPr>
              <a:t>Drop acorn + 5 cores, sell 994 cores, pick up 5 cores + acorn</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	Equip Falcon Bow &amp; Boko Club</a:t>
            </a:r>
            <a:endParaRPr sz="1500">
              <a:solidFill>
                <a:srgbClr val="00FFFF"/>
              </a:solidFill>
              <a:latin typeface="Roboto Mono"/>
              <a:ea typeface="Roboto Mono"/>
              <a:cs typeface="Roboto Mono"/>
              <a:sym typeface="Roboto Mono"/>
            </a:endParaRPr>
          </a:p>
          <a:p>
            <a:pPr indent="45720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00FF"/>
                </a:solidFill>
                <a:latin typeface="Roboto Mono"/>
                <a:ea typeface="Roboto Mono"/>
                <a:cs typeface="Roboto Mono"/>
                <a:sym typeface="Roboto Mono"/>
              </a:rPr>
              <a:t>LOAD Boko Camp Autosave</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2"/>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Corruption 2</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Plateau</a:t>
            </a:r>
            <a:endParaRPr sz="15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sz="1500">
                <a:solidFill>
                  <a:schemeClr val="dk1"/>
                </a:solidFill>
                <a:latin typeface="Roboto Mono"/>
                <a:ea typeface="Roboto Mono"/>
                <a:cs typeface="Roboto Mono"/>
                <a:sym typeface="Roboto Mono"/>
              </a:rPr>
              <a:t>Eat 7 Food</a:t>
            </a:r>
            <a:endParaRPr sz="1500">
              <a:solidFill>
                <a:schemeClr val="dk1"/>
              </a:solidFill>
              <a:latin typeface="Roboto Mono"/>
              <a:ea typeface="Roboto Mono"/>
              <a:cs typeface="Roboto Mono"/>
              <a:sym typeface="Roboto Mono"/>
            </a:endParaRPr>
          </a:p>
          <a:p>
            <a:pPr indent="0" lvl="0" marL="45720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Kakariko</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Shoot arrow</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a:t>
            </a: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457200" lvl="0" marL="0" rtl="0" algn="l">
              <a:spcBef>
                <a:spcPts val="0"/>
              </a:spcBef>
              <a:spcAft>
                <a:spcPts val="0"/>
              </a:spcAft>
              <a:buNone/>
            </a:pPr>
            <a:r>
              <a:rPr lang="en" sz="1500">
                <a:solidFill>
                  <a:srgbClr val="FF00FF"/>
                </a:solidFill>
                <a:latin typeface="Roboto Mono"/>
                <a:ea typeface="Roboto Mono"/>
                <a:cs typeface="Roboto Mono"/>
                <a:sym typeface="Roboto Mono"/>
              </a:rPr>
              <a:t>LOAD Boko Camp Autosave</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Corruption 3</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Plateau</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Eat 6 Food</a:t>
            </a:r>
            <a:endParaRPr sz="1500">
              <a:solidFill>
                <a:schemeClr val="dk1"/>
              </a:solidFill>
              <a:latin typeface="Roboto Mono"/>
              <a:ea typeface="Roboto Mono"/>
              <a:cs typeface="Roboto Mono"/>
              <a:sym typeface="Roboto Mono"/>
            </a:endParaRPr>
          </a:p>
          <a:p>
            <a:pPr indent="0" lvl="0" marL="45720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Kakariko</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Shoot arrow</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a:t>
            </a: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457200" lvl="0" marL="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Buy 1 fire arrow</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Equip ancient arrows</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But Swift Carrot (other shop)</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Sort Materials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00FF"/>
                </a:solidFill>
                <a:latin typeface="Roboto Mono"/>
                <a:ea typeface="Roboto Mono"/>
                <a:cs typeface="Roboto Mono"/>
                <a:sym typeface="Roboto Mono"/>
              </a:rPr>
              <a:t>LOAD Boko Camp Autosave</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Corruption 4</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Plateau</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Get boko spear from camp</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	Equip torch</a:t>
            </a:r>
            <a:endParaRPr sz="1500">
              <a:solidFill>
                <a:srgbClr val="00FFFF"/>
              </a:solidFill>
              <a:latin typeface="Roboto Mono"/>
              <a:ea typeface="Roboto Mono"/>
              <a:cs typeface="Roboto Mono"/>
              <a:sym typeface="Roboto Mono"/>
            </a:endParaRPr>
          </a:p>
          <a:p>
            <a:pPr indent="457200" lvl="0" marL="0" rtl="0" algn="l">
              <a:spcBef>
                <a:spcPts val="0"/>
              </a:spcBef>
              <a:spcAft>
                <a:spcPts val="0"/>
              </a:spcAft>
              <a:buNone/>
            </a:pPr>
            <a:r>
              <a:rPr lang="en" sz="1500">
                <a:solidFill>
                  <a:schemeClr val="dk1"/>
                </a:solidFill>
                <a:latin typeface="Roboto Mono"/>
                <a:ea typeface="Roboto Mono"/>
                <a:cs typeface="Roboto Mono"/>
                <a:sym typeface="Roboto Mono"/>
              </a:rPr>
              <a:t>Eat 9 Food</a:t>
            </a:r>
            <a:endParaRPr sz="1500">
              <a:solidFill>
                <a:schemeClr val="dk1"/>
              </a:solidFill>
              <a:latin typeface="Roboto Mono"/>
              <a:ea typeface="Roboto Mono"/>
              <a:cs typeface="Roboto Mono"/>
              <a:sym typeface="Roboto Mono"/>
            </a:endParaRPr>
          </a:p>
          <a:p>
            <a:pPr indent="0" lvl="0" marL="45720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Kakariko</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Shoot arrow</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a:t>
            </a: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457200" lvl="0" marL="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Continue from the route doc.</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DO NOT reload any saves until after WMC is finished.</a:t>
            </a:r>
            <a:endParaRPr sz="1500">
              <a:solidFill>
                <a:schemeClr val="dk1"/>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WMC Meal</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BTB to Link’s House (Hateno)</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Drop Endura Carrot, Nightshade, burn </a:t>
            </a:r>
            <a:r>
              <a:rPr lang="en" sz="1500">
                <a:solidFill>
                  <a:schemeClr val="dk1"/>
                </a:solidFill>
                <a:latin typeface="Roboto Mono"/>
                <a:ea typeface="Roboto Mono"/>
                <a:cs typeface="Roboto Mono"/>
                <a:sym typeface="Roboto Mono"/>
              </a:rPr>
              <a:t>with</a:t>
            </a:r>
            <a:r>
              <a:rPr lang="en" sz="1500">
                <a:solidFill>
                  <a:schemeClr val="dk1"/>
                </a:solidFill>
                <a:latin typeface="Roboto Mono"/>
                <a:ea typeface="Roboto Mono"/>
                <a:cs typeface="Roboto Mono"/>
                <a:sym typeface="Roboto Mono"/>
              </a:rPr>
              <a:t> fire arrow</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Pick up roasted carrot</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Talk to Bolson</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a:t>
            </a: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457200" lvl="0" marL="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9900"/>
                </a:solidFill>
                <a:latin typeface="Roboto Mono"/>
                <a:ea typeface="Roboto Mono"/>
                <a:cs typeface="Roboto Mono"/>
                <a:sym typeface="Roboto Mono"/>
              </a:rPr>
              <a:t>COOK Speed Food (1 Din. Fang, 4 Lotus)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Eat 7 endura meals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SORT MEALS TWICE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Hold Roasted Carrot</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Cursor on meals tab 1 row 3 column 5</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(wait a</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moment)</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Unpause/pause, hold 3 fairy + princess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accent4"/>
                </a:solidFill>
                <a:latin typeface="Roboto Mono"/>
                <a:ea typeface="Roboto Mono"/>
                <a:cs typeface="Roboto Mono"/>
                <a:sym typeface="Roboto Mono"/>
              </a:rPr>
              <a:t>Cook WMC meal (sneaky fried wild greens)</a:t>
            </a:r>
            <a:endParaRPr sz="1500">
              <a:solidFill>
                <a:schemeClr val="accent4"/>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Eat 2 endura meals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a:t>
            </a: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457200" lvl="0" marL="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chemeClr val="dk1"/>
              </a:solidFill>
              <a:latin typeface="Roboto Mono"/>
              <a:ea typeface="Roboto Mono"/>
              <a:cs typeface="Roboto Mono"/>
              <a:sym typeface="Roboto Mono"/>
            </a:endParaRPr>
          </a:p>
        </p:txBody>
      </p:sp>
      <p:pic>
        <p:nvPicPr>
          <p:cNvPr id="119" name="Google Shape;119;p25"/>
          <p:cNvPicPr preferRelativeResize="0"/>
          <p:nvPr/>
        </p:nvPicPr>
        <p:blipFill rotWithShape="1">
          <a:blip r:embed="rId3">
            <a:alphaModFix/>
          </a:blip>
          <a:srcRect b="0" l="4000" r="-4000" t="0"/>
          <a:stretch/>
        </p:blipFill>
        <p:spPr>
          <a:xfrm>
            <a:off x="187025" y="5173275"/>
            <a:ext cx="1905000" cy="476250"/>
          </a:xfrm>
          <a:prstGeom prst="rect">
            <a:avLst/>
          </a:prstGeom>
          <a:noFill/>
          <a:ln>
            <a:noFill/>
          </a:ln>
        </p:spPr>
      </p:pic>
      <p:pic>
        <p:nvPicPr>
          <p:cNvPr id="120" name="Google Shape;120;p25"/>
          <p:cNvPicPr preferRelativeResize="0"/>
          <p:nvPr/>
        </p:nvPicPr>
        <p:blipFill>
          <a:blip r:embed="rId4">
            <a:alphaModFix/>
          </a:blip>
          <a:stretch>
            <a:fillRect/>
          </a:stretch>
        </p:blipFill>
        <p:spPr>
          <a:xfrm>
            <a:off x="3173150" y="5135175"/>
            <a:ext cx="1622863" cy="514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Continue to Medoh</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Eat speed food</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Follow the route up thru completing Vah Medoh</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Hateno/Necluda stuff</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Farosh farming + Faron</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Hestu 1 &amp; 2</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Tabantha Tower, Rito Village 1</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Complete Vah Medoh, destroy Windblight, get Revali’s Gale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BEFORE GETTING GEB FROM CHEST:</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Unequip bow</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Equip fire arrows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Get GEB from chest by Rito Chief</a:t>
            </a:r>
            <a:endParaRPr sz="1500">
              <a:solidFill>
                <a:schemeClr val="dk1"/>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7"/>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WMC </a:t>
            </a:r>
            <a:r>
              <a:rPr lang="en" sz="2000">
                <a:solidFill>
                  <a:schemeClr val="dk1"/>
                </a:solidFill>
                <a:latin typeface="Roboto Mono Medium"/>
                <a:ea typeface="Roboto Mono Medium"/>
                <a:cs typeface="Roboto Mono Medium"/>
                <a:sym typeface="Roboto Mono Medium"/>
              </a:rPr>
              <a:t>Prep 1</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Drop to cookpot</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Take pot lid (equip Hylian Shield)</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Ensure you have 41 meals (eat if you haven’t already)</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Cook speedfood </a:t>
            </a:r>
            <a:endParaRPr sz="14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sz="1400">
                <a:solidFill>
                  <a:schemeClr val="dk1"/>
                </a:solidFill>
                <a:latin typeface="Roboto Mono"/>
                <a:ea typeface="Roboto Mono"/>
                <a:cs typeface="Roboto Mono"/>
                <a:sym typeface="Roboto Mono"/>
              </a:rPr>
              <a:t>(Farosh Horn + 3 Lotus Seeds + Rushroom)</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p:txBody>
      </p:sp>
      <p:pic>
        <p:nvPicPr>
          <p:cNvPr id="131" name="Google Shape;131;p27"/>
          <p:cNvPicPr preferRelativeResize="0"/>
          <p:nvPr/>
        </p:nvPicPr>
        <p:blipFill>
          <a:blip r:embed="rId3">
            <a:alphaModFix/>
          </a:blip>
          <a:stretch>
            <a:fillRect/>
          </a:stretch>
        </p:blipFill>
        <p:spPr>
          <a:xfrm>
            <a:off x="187025" y="1981500"/>
            <a:ext cx="5205501" cy="39882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8"/>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WMC Prep 2</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Eat your Sheikah Slate:</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Cursor on meals page 1 row 1 col 1</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(wait a second)</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(wait a second)</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4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400">
                <a:solidFill>
                  <a:schemeClr val="dk1"/>
                </a:solidFill>
                <a:latin typeface="Roboto Mono"/>
                <a:ea typeface="Roboto Mono"/>
                <a:cs typeface="Roboto Mono"/>
                <a:sym typeface="Roboto Mono"/>
              </a:rPr>
              <a:t>* Sell or drop all materials except:</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Farosh Scale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 Hearty Bass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Eat all meals except for the last two</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(baked apple + speedfood)</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 Drop boko club</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p:txBody>
      </p:sp>
      <p:pic>
        <p:nvPicPr>
          <p:cNvPr id="137" name="Google Shape;137;p28"/>
          <p:cNvPicPr preferRelativeResize="0"/>
          <p:nvPr/>
        </p:nvPicPr>
        <p:blipFill>
          <a:blip r:embed="rId3">
            <a:alphaModFix/>
          </a:blip>
          <a:stretch>
            <a:fillRect/>
          </a:stretch>
        </p:blipFill>
        <p:spPr>
          <a:xfrm>
            <a:off x="721100" y="1457025"/>
            <a:ext cx="2857500" cy="476250"/>
          </a:xfrm>
          <a:prstGeom prst="rect">
            <a:avLst/>
          </a:prstGeom>
          <a:noFill/>
          <a:ln>
            <a:noFill/>
          </a:ln>
        </p:spPr>
      </p:pic>
      <p:pic>
        <p:nvPicPr>
          <p:cNvPr id="138" name="Google Shape;138;p28"/>
          <p:cNvPicPr preferRelativeResize="0"/>
          <p:nvPr/>
        </p:nvPicPr>
        <p:blipFill>
          <a:blip r:embed="rId4">
            <a:alphaModFix/>
          </a:blip>
          <a:stretch>
            <a:fillRect/>
          </a:stretch>
        </p:blipFill>
        <p:spPr>
          <a:xfrm>
            <a:off x="721100" y="3419475"/>
            <a:ext cx="2381250" cy="476250"/>
          </a:xfrm>
          <a:prstGeom prst="rect">
            <a:avLst/>
          </a:prstGeom>
          <a:noFill/>
          <a:ln>
            <a:noFill/>
          </a:ln>
        </p:spPr>
      </p:pic>
      <p:pic>
        <p:nvPicPr>
          <p:cNvPr id="139" name="Google Shape;139;p28"/>
          <p:cNvPicPr preferRelativeResize="0"/>
          <p:nvPr/>
        </p:nvPicPr>
        <p:blipFill>
          <a:blip r:embed="rId5">
            <a:alphaModFix/>
          </a:blip>
          <a:stretch>
            <a:fillRect/>
          </a:stretch>
        </p:blipFill>
        <p:spPr>
          <a:xfrm>
            <a:off x="721100" y="2387625"/>
            <a:ext cx="952500" cy="4762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9"/>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WMC 1</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Drop Forest Dweller Bow and Falcon Bow</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Drop Claymore + Potlid</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Drop Fish + Scale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u="sng">
                <a:solidFill>
                  <a:schemeClr val="dk1"/>
                </a:solidFill>
                <a:latin typeface="Roboto Mono"/>
                <a:ea typeface="Roboto Mono"/>
                <a:cs typeface="Roboto Mono"/>
                <a:sym typeface="Roboto Mono"/>
              </a:rPr>
              <a:t>IN ORDER</a:t>
            </a:r>
            <a:r>
              <a:rPr lang="en" sz="1500">
                <a:solidFill>
                  <a:schemeClr val="dk1"/>
                </a:solidFill>
                <a:latin typeface="Roboto Mono"/>
                <a:ea typeface="Roboto Mono"/>
                <a:cs typeface="Roboto Mono"/>
                <a:sym typeface="Roboto Mono"/>
              </a:rPr>
              <a:t> pick up:</a:t>
            </a:r>
            <a:endParaRPr sz="15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sz="1500">
                <a:solidFill>
                  <a:schemeClr val="dk1"/>
                </a:solidFill>
                <a:latin typeface="Roboto Mono"/>
                <a:ea typeface="Roboto Mono"/>
                <a:cs typeface="Roboto Mono"/>
                <a:sym typeface="Roboto Mono"/>
              </a:rPr>
              <a:t>* Claymore</a:t>
            </a:r>
            <a:endParaRPr sz="15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sz="1500">
                <a:solidFill>
                  <a:schemeClr val="dk1"/>
                </a:solidFill>
                <a:latin typeface="Roboto Mono"/>
                <a:ea typeface="Roboto Mono"/>
                <a:cs typeface="Roboto Mono"/>
                <a:sym typeface="Roboto Mono"/>
              </a:rPr>
              <a:t>* Fish</a:t>
            </a:r>
            <a:endParaRPr sz="15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sz="1500">
                <a:solidFill>
                  <a:schemeClr val="dk1"/>
                </a:solidFill>
                <a:latin typeface="Roboto Mono"/>
                <a:ea typeface="Roboto Mono"/>
                <a:cs typeface="Roboto Mono"/>
                <a:sym typeface="Roboto Mono"/>
              </a:rPr>
              <a:t>* Scale</a:t>
            </a:r>
            <a:endParaRPr sz="15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sz="1500">
                <a:solidFill>
                  <a:schemeClr val="dk1"/>
                </a:solidFill>
                <a:latin typeface="Roboto Mono"/>
                <a:ea typeface="Roboto Mono"/>
                <a:cs typeface="Roboto Mono"/>
                <a:sym typeface="Roboto Mono"/>
              </a:rPr>
              <a:t>* Potlid</a:t>
            </a:r>
            <a:endParaRPr sz="1500">
              <a:solidFill>
                <a:schemeClr val="dk1"/>
              </a:solidFill>
              <a:latin typeface="Roboto Mono"/>
              <a:ea typeface="Roboto Mono"/>
              <a:cs typeface="Roboto Mono"/>
              <a:sym typeface="Roboto Mono"/>
            </a:endParaRPr>
          </a:p>
          <a:p>
            <a:pPr indent="45720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00"/>
                </a:solidFill>
                <a:latin typeface="Roboto Mono"/>
                <a:ea typeface="Roboto Mono"/>
                <a:cs typeface="Roboto Mono"/>
                <a:sym typeface="Roboto Mono"/>
              </a:rPr>
              <a:t>SAVE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Pick up Bows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Drop Fish + Scale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Eat both meals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0"/>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WMC 2</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Shoot arrow</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Unequip 2nd GEB</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Equip Ancient Arrow</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Equip 2nd Potlid</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Drop Fish + Scale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Eat speedfood</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u="sng">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Shoot arrow</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00"/>
                </a:solidFill>
                <a:latin typeface="Roboto Mono"/>
                <a:ea typeface="Roboto Mono"/>
                <a:cs typeface="Roboto Mono"/>
                <a:sym typeface="Roboto Mono"/>
              </a:rPr>
              <a:t>SAVE</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Drop last 2 shields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Eat fish</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00FF"/>
                </a:solidFill>
                <a:latin typeface="Roboto Mono"/>
                <a:ea typeface="Roboto Mono"/>
                <a:cs typeface="Roboto Mono"/>
                <a:sym typeface="Roboto Mono"/>
              </a:rPr>
              <a:t>LOAD Hard Save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1"/>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000">
                <a:solidFill>
                  <a:schemeClr val="dk1"/>
                </a:solidFill>
                <a:latin typeface="Roboto Mono Medium"/>
                <a:ea typeface="Roboto Mono Medium"/>
                <a:cs typeface="Roboto Mono Medium"/>
                <a:sym typeface="Roboto Mono Medium"/>
              </a:rPr>
              <a:t>WMC 3</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00"/>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Unequip Claymore</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Unequip Bow 2</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Drop Bow 3</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Drop Shields 1, 2, 4</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Unequip Shield 3</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Drop/Pickup Scale</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Eat first 2 meals</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FF00FF"/>
                </a:solidFill>
                <a:latin typeface="Roboto Mono"/>
                <a:ea typeface="Roboto Mono"/>
                <a:cs typeface="Roboto Mono"/>
                <a:sym typeface="Roboto Mono"/>
              </a:rPr>
              <a:t>LOAD </a:t>
            </a:r>
            <a:r>
              <a:rPr lang="en" sz="1500" u="sng">
                <a:solidFill>
                  <a:srgbClr val="FF00FF"/>
                </a:solidFill>
                <a:latin typeface="Roboto Mono"/>
                <a:ea typeface="Roboto Mono"/>
                <a:cs typeface="Roboto Mono"/>
                <a:sym typeface="Roboto Mono"/>
              </a:rPr>
              <a:t>GEB Autosave</a:t>
            </a:r>
            <a:endParaRPr sz="1500" u="sng">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FF00FF"/>
              </a:solidFill>
              <a:latin typeface="Roboto Mono"/>
              <a:ea typeface="Roboto Mono"/>
              <a:cs typeface="Roboto Mono"/>
              <a:sym typeface="Roboto Mono"/>
            </a:endParaRPr>
          </a:p>
        </p:txBody>
      </p:sp>
      <p:sp>
        <p:nvSpPr>
          <p:cNvPr id="155" name="Google Shape;155;p31"/>
          <p:cNvSpPr txBox="1"/>
          <p:nvPr>
            <p:ph idx="1" type="body"/>
          </p:nvPr>
        </p:nvSpPr>
        <p:spPr>
          <a:xfrm>
            <a:off x="3002075" y="1178025"/>
            <a:ext cx="2574600" cy="401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rgbClr val="00FFFF"/>
                </a:solidFill>
                <a:latin typeface="Roboto Mono"/>
                <a:ea typeface="Roboto Mono"/>
                <a:cs typeface="Roboto Mono"/>
                <a:sym typeface="Roboto Mono"/>
              </a:rPr>
              <a:t>* if you’re concerned about bow durability, you can instead </a:t>
            </a:r>
            <a:r>
              <a:rPr lang="en" sz="1100" u="sng">
                <a:solidFill>
                  <a:srgbClr val="00FFFF"/>
                </a:solidFill>
                <a:latin typeface="Roboto Mono"/>
                <a:ea typeface="Roboto Mono"/>
                <a:cs typeface="Roboto Mono"/>
                <a:sym typeface="Roboto Mono"/>
              </a:rPr>
              <a:t>unequip all bows and drop bow 1</a:t>
            </a:r>
            <a:r>
              <a:rPr lang="en" sz="1100">
                <a:solidFill>
                  <a:srgbClr val="00FFFF"/>
                </a:solidFill>
                <a:latin typeface="Roboto Mono"/>
                <a:ea typeface="Roboto Mono"/>
                <a:cs typeface="Roboto Mono"/>
                <a:sym typeface="Roboto Mono"/>
              </a:rPr>
              <a:t>. This will give an extra 800-durability normal GEB.</a:t>
            </a:r>
            <a:endParaRPr sz="1100">
              <a:solidFill>
                <a:srgbClr val="FF00FF"/>
              </a:solidFill>
              <a:latin typeface="Roboto Mono"/>
              <a:ea typeface="Roboto Mono"/>
              <a:cs typeface="Roboto Mono"/>
              <a:sym typeface="Roboto Mono"/>
            </a:endParaRPr>
          </a:p>
        </p:txBody>
      </p:sp>
      <p:cxnSp>
        <p:nvCxnSpPr>
          <p:cNvPr id="156" name="Google Shape;156;p31"/>
          <p:cNvCxnSpPr/>
          <p:nvPr/>
        </p:nvCxnSpPr>
        <p:spPr>
          <a:xfrm>
            <a:off x="1985550" y="1263525"/>
            <a:ext cx="1111500" cy="75900"/>
          </a:xfrm>
          <a:prstGeom prst="straightConnector1">
            <a:avLst/>
          </a:prstGeom>
          <a:noFill/>
          <a:ln cap="flat" cmpd="sng" w="9525">
            <a:solidFill>
              <a:srgbClr val="00FFFF"/>
            </a:solidFill>
            <a:prstDash val="solid"/>
            <a:round/>
            <a:headEnd len="med" w="med" type="none"/>
            <a:tailEnd len="med" w="med" type="none"/>
          </a:ln>
        </p:spPr>
      </p:cxnSp>
      <p:cxnSp>
        <p:nvCxnSpPr>
          <p:cNvPr id="157" name="Google Shape;157;p31"/>
          <p:cNvCxnSpPr/>
          <p:nvPr/>
        </p:nvCxnSpPr>
        <p:spPr>
          <a:xfrm flipH="1" rot="10800000">
            <a:off x="1719550" y="1330150"/>
            <a:ext cx="1386900" cy="161400"/>
          </a:xfrm>
          <a:prstGeom prst="straightConnector1">
            <a:avLst/>
          </a:prstGeom>
          <a:noFill/>
          <a:ln cap="flat" cmpd="sng" w="9525">
            <a:solidFill>
              <a:srgbClr val="00FFFF"/>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idx="1" type="body"/>
          </p:nvPr>
        </p:nvSpPr>
        <p:spPr>
          <a:xfrm>
            <a:off x="187025" y="0"/>
            <a:ext cx="5112300" cy="731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sz="2000">
                <a:solidFill>
                  <a:schemeClr val="dk1"/>
                </a:solidFill>
                <a:latin typeface="Roboto Mono Medium"/>
                <a:ea typeface="Roboto Mono Medium"/>
                <a:cs typeface="Roboto Mono Medium"/>
                <a:sym typeface="Roboto Mono Medium"/>
              </a:rPr>
              <a:t>Results</a:t>
            </a:r>
            <a:endParaRPr sz="2000">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Equip:</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 Claymore in slot 1</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 OmeGEB in slot 2 </a:t>
            </a:r>
            <a:endParaRPr sz="1300">
              <a:solidFill>
                <a:srgbClr val="00FFFF"/>
              </a:solidFill>
              <a:latin typeface="Roboto Mono"/>
              <a:ea typeface="Roboto Mono"/>
              <a:cs typeface="Roboto Mono"/>
              <a:sym typeface="Roboto Mono"/>
            </a:endParaRPr>
          </a:p>
          <a:p>
            <a:pPr indent="0" lvl="0" marL="0" rtl="0" algn="l">
              <a:spcBef>
                <a:spcPts val="0"/>
              </a:spcBef>
              <a:spcAft>
                <a:spcPts val="0"/>
              </a:spcAft>
              <a:buNone/>
            </a:pPr>
            <a:r>
              <a:rPr lang="en" sz="1500">
                <a:solidFill>
                  <a:srgbClr val="00FFFF"/>
                </a:solidFill>
                <a:latin typeface="Roboto Mono"/>
                <a:ea typeface="Roboto Mono"/>
                <a:cs typeface="Roboto Mono"/>
                <a:sym typeface="Roboto Mono"/>
              </a:rPr>
              <a:t>* Hylian Shield in slot 1</a:t>
            </a:r>
            <a:endParaRPr sz="13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rgbClr val="00FFFF"/>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Continue from route doc.</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